
<file path=[Content_Types].xml><?xml version="1.0" encoding="utf-8"?>
<Types xmlns="http://schemas.openxmlformats.org/package/2006/content-types">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5" r:id="rId29"/>
    <p:sldId id="286"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theme" Target="theme/theme1.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viewProps" Target="viewProp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presProps" Target="pres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notesMaster" Target="notesMasters/notesMaster1.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tableStyles" Target="tableStyle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9897DF0B-F485-BB4C-AB15-972B8ECC52F4}" type="datetimeFigureOut">
              <a:rPr lang="en-US" smtClean="0"/>
              <a:t>8/27/2026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72181B62-D40C-5048-8696-2325DC6A0C87}" type="slidenum">
              <a:rPr lang="en-US" smtClean="0"/>
              <a:t>‹#›</a:t>
            </a:fld>
            <a:endParaRPr lang="en-US"/>
          </a:p>
        </p:txBody>
      </p:sp>
    </p:spTree>
    <p:extLst>
      <p:ext uri="{BB962C8B-B14F-4D97-AF65-F5344CB8AC3E}">
        <p14:creationId xmlns:p14="http://schemas.microsoft.com/office/powerpoint/2010/main" val="35664596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 /><Relationship Id="rId1" Type="http://schemas.openxmlformats.org/officeDocument/2006/relationships/slideLayout" Target="../slideLayouts/slideLayout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 /><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 /><Relationship Id="rId1" Type="http://schemas.openxmlformats.org/officeDocument/2006/relationships/slideLayout" Target="../slideLayouts/slideLayout1.xml" /></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 /><Relationship Id="rId1" Type="http://schemas.openxmlformats.org/officeDocument/2006/relationships/slideLayout" Target="../slideLayouts/slideLayout1.xml" /></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 /><Relationship Id="rId1" Type="http://schemas.openxmlformats.org/officeDocument/2006/relationships/slideLayout" Target="../slideLayouts/slideLayout1.xml" /></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 /><Relationship Id="rId1" Type="http://schemas.openxmlformats.org/officeDocument/2006/relationships/slideLayout" Target="../slideLayouts/slideLayout1.xml" /></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 /><Relationship Id="rId1" Type="http://schemas.openxmlformats.org/officeDocument/2006/relationships/slideLayout" Target="../slideLayouts/slideLayout1.xml" /></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 /><Relationship Id="rId1" Type="http://schemas.openxmlformats.org/officeDocument/2006/relationships/slideLayout" Target="../slideLayouts/slideLayout1.xml" /></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 /><Relationship Id="rId1" Type="http://schemas.openxmlformats.org/officeDocument/2006/relationships/slideLayout" Target="../slideLayouts/slideLayout1.xml" /></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 /><Relationship Id="rId1" Type="http://schemas.openxmlformats.org/officeDocument/2006/relationships/slideLayout" Target="../slideLayouts/slideLayout1.xml" /></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 /><Relationship Id="rId1" Type="http://schemas.openxmlformats.org/officeDocument/2006/relationships/slideLayout" Target="../slideLayouts/slideLayout1.xml" /></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 /><Relationship Id="rId1" Type="http://schemas.openxmlformats.org/officeDocument/2006/relationships/slideLayout" Target="../slideLayouts/slideLayout1.xml" /></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 /><Relationship Id="rId1" Type="http://schemas.openxmlformats.org/officeDocument/2006/relationships/slideLayout" Target="../slideLayouts/slideLayout1.xml" /></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 /><Relationship Id="rId1" Type="http://schemas.openxmlformats.org/officeDocument/2006/relationships/slideLayout" Target="../slideLayouts/slideLayout1.xml" /></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 /><Relationship Id="rId1" Type="http://schemas.openxmlformats.org/officeDocument/2006/relationships/slideLayout" Target="../slideLayouts/slideLayout1.xml" /></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 /><Relationship Id="rId1" Type="http://schemas.openxmlformats.org/officeDocument/2006/relationships/slideLayout" Target="../slideLayouts/slideLayout1.xml" /></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 /><Relationship Id="rId1" Type="http://schemas.openxmlformats.org/officeDocument/2006/relationships/slideLayout" Target="../slideLayouts/slideLayout1.xml" /></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 /><Relationship Id="rId1" Type="http://schemas.openxmlformats.org/officeDocument/2006/relationships/slideLayout" Target="../slideLayouts/slideLayout1.xml" /></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home/claude/ppt/logo-000.jpg"/>
          <p:cNvPicPr>
            <a:picLocks noChangeAspect="1"/>
          </p:cNvPicPr>
          <p:nvPr/>
        </p:nvPicPr>
        <p:blipFill>
          <a:blip r:embed="rId3"/>
          <a:stretch>
            <a:fillRect/>
          </a:stretch>
        </p:blipFill>
        <p:spPr>
          <a:xfrm>
            <a:off x="5486400" y="502920"/>
            <a:ext cx="1188720" cy="1188720"/>
          </a:xfrm>
          <a:prstGeom prst="rect">
            <a:avLst/>
          </a:prstGeom>
        </p:spPr>
      </p:pic>
      <p:sp>
        <p:nvSpPr>
          <p:cNvPr id="3" name="Text 0"/>
          <p:cNvSpPr txBox="1"/>
          <p:nvPr/>
        </p:nvSpPr>
        <p:spPr>
          <a:xfrm>
            <a:off x="457200" y="1783080"/>
            <a:ext cx="11247120" cy="457200"/>
          </a:xfrm>
          <a:prstGeom prst="rect">
            <a:avLst/>
          </a:prstGeom>
          <a:noFill/>
          <a:ln/>
        </p:spPr>
        <p:txBody>
          <a:bodyPr wrap="square" lIns="0" tIns="0" rIns="0" bIns="0" rtlCol="0" anchor="ctr"/>
          <a:lstStyle/>
          <a:p>
            <a:pPr marL="0" indent="0" algn="ctr">
              <a:buNone/>
            </a:pPr>
            <a:r>
              <a:rPr lang="en-US" sz="1800" b="1" dirty="0">
                <a:solidFill>
                  <a:srgbClr val="1A1A1A"/>
                </a:solidFill>
                <a:latin typeface="Calibri" pitchFamily="34" charset="0"/>
                <a:ea typeface="Calibri" pitchFamily="34" charset="-122"/>
                <a:cs typeface="Calibri" pitchFamily="34" charset="-120"/>
              </a:rPr>
              <a:t>NATIONAL INSTITUTE OF TECHNOLOGY, TIRUCHIRAPPALLI</a:t>
            </a:r>
            <a:endParaRPr lang="en-US" sz="1800" dirty="0"/>
          </a:p>
        </p:txBody>
      </p:sp>
      <p:sp>
        <p:nvSpPr>
          <p:cNvPr id="4" name="Text 1"/>
          <p:cNvSpPr txBox="1"/>
          <p:nvPr/>
        </p:nvSpPr>
        <p:spPr>
          <a:xfrm>
            <a:off x="457200" y="2514600"/>
            <a:ext cx="11247120" cy="365760"/>
          </a:xfrm>
          <a:prstGeom prst="rect">
            <a:avLst/>
          </a:prstGeom>
          <a:noFill/>
          <a:ln/>
        </p:spPr>
        <p:txBody>
          <a:bodyPr wrap="square" lIns="0" tIns="0" rIns="0" bIns="0" rtlCol="0" anchor="ctr"/>
          <a:lstStyle/>
          <a:p>
            <a:pPr marL="0" indent="0" algn="ctr">
              <a:buNone/>
            </a:pPr>
            <a:r>
              <a:rPr lang="en-US" sz="1600" b="1" dirty="0">
                <a:solidFill>
                  <a:srgbClr val="1A1A1A"/>
                </a:solidFill>
                <a:latin typeface="Calibri" pitchFamily="34" charset="0"/>
                <a:ea typeface="Calibri" pitchFamily="34" charset="-122"/>
                <a:cs typeface="Calibri" pitchFamily="34" charset="-120"/>
              </a:rPr>
              <a:t>PROJECT REPORT</a:t>
            </a:r>
            <a:endParaRPr lang="en-US" sz="1600" dirty="0"/>
          </a:p>
        </p:txBody>
      </p:sp>
      <p:sp>
        <p:nvSpPr>
          <p:cNvPr id="5" name="Text 2"/>
          <p:cNvSpPr txBox="1"/>
          <p:nvPr/>
        </p:nvSpPr>
        <p:spPr>
          <a:xfrm>
            <a:off x="914400" y="3108960"/>
            <a:ext cx="10332720" cy="1097280"/>
          </a:xfrm>
          <a:prstGeom prst="rect">
            <a:avLst/>
          </a:prstGeom>
          <a:noFill/>
          <a:ln/>
        </p:spPr>
        <p:txBody>
          <a:bodyPr wrap="square" lIns="0" tIns="0" rIns="0" bIns="0" rtlCol="0" anchor="ctr"/>
          <a:lstStyle/>
          <a:p>
            <a:pPr marL="0" indent="0" algn="ctr">
              <a:buNone/>
            </a:pPr>
            <a:r>
              <a:rPr lang="en-US" sz="2100" b="1" dirty="0">
                <a:solidFill>
                  <a:srgbClr val="1A1A1A"/>
                </a:solidFill>
                <a:latin typeface="Calibri" pitchFamily="34" charset="0"/>
                <a:ea typeface="Calibri" pitchFamily="34" charset="-122"/>
                <a:cs typeface="Calibri" pitchFamily="34" charset="-120"/>
              </a:rPr>
              <a:t>Claim-Level Hallucination Detection in Retrieval-Augmented Generation Systems: A Matching-Based Verification Module</a:t>
            </a:r>
            <a:endParaRPr lang="en-US" sz="2100" dirty="0"/>
          </a:p>
        </p:txBody>
      </p:sp>
      <p:sp>
        <p:nvSpPr>
          <p:cNvPr id="6" name="Text 3"/>
          <p:cNvSpPr txBox="1"/>
          <p:nvPr/>
        </p:nvSpPr>
        <p:spPr>
          <a:xfrm>
            <a:off x="457200" y="4389120"/>
            <a:ext cx="11247120" cy="320040"/>
          </a:xfrm>
          <a:prstGeom prst="rect">
            <a:avLst/>
          </a:prstGeom>
          <a:noFill/>
          <a:ln/>
        </p:spPr>
        <p:txBody>
          <a:bodyPr wrap="square" lIns="0" tIns="0" rIns="0" bIns="0" rtlCol="0" anchor="ctr"/>
          <a:lstStyle/>
          <a:p>
            <a:pPr marL="0" indent="0" algn="ctr">
              <a:buNone/>
            </a:pPr>
            <a:r>
              <a:rPr lang="en-US" sz="1300" dirty="0">
                <a:solidFill>
                  <a:srgbClr val="1A1A1A"/>
                </a:solidFill>
                <a:latin typeface="Calibri" pitchFamily="34" charset="0"/>
                <a:ea typeface="Calibri" pitchFamily="34" charset="-122"/>
                <a:cs typeface="Calibri" pitchFamily="34" charset="-120"/>
              </a:rPr>
              <a:t>Submitted by</a:t>
            </a:r>
            <a:endParaRPr lang="en-US" sz="1300" dirty="0"/>
          </a:p>
        </p:txBody>
      </p:sp>
      <p:sp>
        <p:nvSpPr>
          <p:cNvPr id="7" name="Text 4"/>
          <p:cNvSpPr txBox="1"/>
          <p:nvPr/>
        </p:nvSpPr>
        <p:spPr>
          <a:xfrm>
            <a:off x="457200" y="4709160"/>
            <a:ext cx="11247120" cy="868680"/>
          </a:xfrm>
          <a:prstGeom prst="rect">
            <a:avLst/>
          </a:prstGeom>
          <a:noFill/>
          <a:ln/>
        </p:spPr>
        <p:txBody>
          <a:bodyPr wrap="square" lIns="0" tIns="0" rIns="0" bIns="0" rtlCol="0" anchor="ctr"/>
          <a:lstStyle/>
          <a:p>
            <a:pPr marL="0" indent="0" algn="ctr">
              <a:buNone/>
            </a:pPr>
            <a:r>
              <a:rPr lang="en-US" sz="1300" b="1" dirty="0">
                <a:solidFill>
                  <a:srgbClr val="1A1A1A"/>
                </a:solidFill>
                <a:latin typeface="Calibri" pitchFamily="34" charset="0"/>
                <a:ea typeface="Calibri" pitchFamily="34" charset="-122"/>
                <a:cs typeface="Calibri" pitchFamily="34" charset="-120"/>
              </a:rPr>
              <a:t>SHIFAN VADAKKUNGARA (Reg. No. 24DCS029)</a:t>
            </a:r>
            <a:endParaRPr lang="en-US" sz="1300" dirty="0"/>
          </a:p>
          <a:p>
            <a:pPr marL="0" indent="0" algn="ctr">
              <a:buNone/>
            </a:pPr>
            <a:r>
              <a:rPr lang="en-US" sz="1300" b="1" dirty="0">
                <a:solidFill>
                  <a:srgbClr val="1A1A1A"/>
                </a:solidFill>
                <a:latin typeface="Calibri" pitchFamily="34" charset="0"/>
                <a:ea typeface="Calibri" pitchFamily="34" charset="-122"/>
                <a:cs typeface="Calibri" pitchFamily="34" charset="-120"/>
              </a:rPr>
              <a:t>VANSHAJ GUPTA (Reg. No. 24DCS028)</a:t>
            </a:r>
            <a:endParaRPr lang="en-US" sz="1300" dirty="0"/>
          </a:p>
          <a:p>
            <a:pPr marL="0" indent="0" algn="ctr">
              <a:buNone/>
            </a:pPr>
            <a:r>
              <a:rPr lang="en-US" sz="1300" b="1" dirty="0">
                <a:solidFill>
                  <a:srgbClr val="1A1A1A"/>
                </a:solidFill>
                <a:latin typeface="Calibri" pitchFamily="34" charset="0"/>
                <a:ea typeface="Calibri" pitchFamily="34" charset="-122"/>
                <a:cs typeface="Calibri" pitchFamily="34" charset="-120"/>
              </a:rPr>
              <a:t>SUSHMIT NAKHATE (Reg. No. 24DCS026)</a:t>
            </a:r>
            <a:endParaRPr lang="en-US" sz="1300" dirty="0"/>
          </a:p>
        </p:txBody>
      </p:sp>
      <p:sp>
        <p:nvSpPr>
          <p:cNvPr id="8" name="Text 5"/>
          <p:cNvSpPr txBox="1"/>
          <p:nvPr/>
        </p:nvSpPr>
        <p:spPr>
          <a:xfrm>
            <a:off x="457200" y="5623560"/>
            <a:ext cx="11247120" cy="274320"/>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Under the supervision of</a:t>
            </a:r>
            <a:endParaRPr lang="en-US" sz="1200" dirty="0"/>
          </a:p>
        </p:txBody>
      </p:sp>
      <p:sp>
        <p:nvSpPr>
          <p:cNvPr id="9" name="Text 6"/>
          <p:cNvSpPr txBox="1"/>
          <p:nvPr/>
        </p:nvSpPr>
        <p:spPr>
          <a:xfrm>
            <a:off x="457200" y="5897880"/>
            <a:ext cx="11247120" cy="274320"/>
          </a:xfrm>
          <a:prstGeom prst="rect">
            <a:avLst/>
          </a:prstGeom>
          <a:noFill/>
          <a:ln/>
        </p:spPr>
        <p:txBody>
          <a:bodyPr wrap="square" lIns="0" tIns="0" rIns="0" bIns="0" rtlCol="0" anchor="ctr"/>
          <a:lstStyle/>
          <a:p>
            <a:pPr marL="0" indent="0" algn="ctr">
              <a:buNone/>
            </a:pPr>
            <a:r>
              <a:rPr lang="en-US" sz="1300" b="1" dirty="0">
                <a:solidFill>
                  <a:srgbClr val="1A1A1A"/>
                </a:solidFill>
                <a:latin typeface="Calibri" pitchFamily="34" charset="0"/>
                <a:ea typeface="Calibri" pitchFamily="34" charset="-122"/>
                <a:cs typeface="Calibri" pitchFamily="34" charset="-120"/>
              </a:rPr>
              <a:t>Dr. Usha Kiruthika S</a:t>
            </a:r>
            <a:endParaRPr lang="en-US" sz="1300" dirty="0"/>
          </a:p>
        </p:txBody>
      </p:sp>
      <p:sp>
        <p:nvSpPr>
          <p:cNvPr id="10" name="Text 7"/>
          <p:cNvSpPr txBox="1"/>
          <p:nvPr/>
        </p:nvSpPr>
        <p:spPr>
          <a:xfrm>
            <a:off x="457200" y="6172200"/>
            <a:ext cx="11247120" cy="274320"/>
          </a:xfrm>
          <a:prstGeom prst="rect">
            <a:avLst/>
          </a:prstGeom>
          <a:noFill/>
          <a:ln/>
        </p:spPr>
        <p:txBody>
          <a:bodyPr wrap="square" lIns="0" tIns="0" rIns="0" bIns="0" rtlCol="0" anchor="ctr"/>
          <a:lstStyle/>
          <a:p>
            <a:pPr marL="0" indent="0" algn="ctr">
              <a:buNone/>
            </a:pPr>
            <a:r>
              <a:rPr lang="en-US" sz="1100" dirty="0">
                <a:solidFill>
                  <a:srgbClr val="1A1A1A"/>
                </a:solidFill>
                <a:latin typeface="Calibri" pitchFamily="34" charset="0"/>
                <a:ea typeface="Calibri" pitchFamily="34" charset="-122"/>
                <a:cs typeface="Calibri" pitchFamily="34" charset="-120"/>
              </a:rPr>
              <a:t>(Assistant Professor, Dept. of CSE, NIT Trichy)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t"/>
          <a:lstStyle/>
          <a:p>
            <a:pPr marL="0" indent="0" algn="l">
              <a:buNone/>
            </a:pPr>
            <a:r>
              <a:rPr lang="en-US" sz="2800" b="1" dirty="0">
                <a:solidFill>
                  <a:srgbClr val="1A1A1A"/>
                </a:solidFill>
                <a:latin typeface="Calibri" pitchFamily="34" charset="0"/>
                <a:ea typeface="Calibri" pitchFamily="34" charset="-122"/>
                <a:cs typeface="Calibri" pitchFamily="34" charset="-120"/>
              </a:rPr>
              <a:t>Introduction</a:t>
            </a:r>
            <a:endParaRPr lang="en-US" sz="2800" dirty="0"/>
          </a:p>
        </p:txBody>
      </p:sp>
      <p:sp>
        <p:nvSpPr>
          <p:cNvPr id="3" name="Text 1"/>
          <p:cNvSpPr txBox="1"/>
          <p:nvPr/>
        </p:nvSpPr>
        <p:spPr>
          <a:xfrm>
            <a:off x="548640" y="1143000"/>
            <a:ext cx="11064240" cy="53949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Retrieval-Augmented Generation (RAG) grounds language models by retrieving passages from a knowledge base and conditioning generation on them.</a:t>
            </a:r>
            <a:endParaRPr lang="en-US" sz="1500" dirty="0"/>
          </a:p>
          <a:p>
            <a:pPr marL="342900" indent="-3429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Even with the right sources provided, language models still generate facts that are not present in, or that contradict, the retrieved passages. This is called hallucination.</a:t>
            </a:r>
            <a:endParaRPr lang="en-US" sz="1500" dirty="0"/>
          </a:p>
          <a:p>
            <a:pPr marL="342900" indent="-3429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Hallucination is a serious risk in high-stakes uses such as clinical decision support, financial question answering, legal review and enterprise assistants, where a fluent but wrong statement is harder to catch than an obviously wrong one.</a:t>
            </a:r>
            <a:endParaRPr lang="en-US" sz="1500" dirty="0"/>
          </a:p>
          <a:p>
            <a:pPr marL="342900" indent="-3429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Current faithfulness checks (such as SelfCheckGPT-style scoring) give one score for the whole answer. A single wrong sentence in an otherwise correct answer gets averaged out and hidden.</a:t>
            </a:r>
            <a:endParaRPr lang="en-US" sz="1500" dirty="0"/>
          </a:p>
          <a:p>
            <a:pPr marL="342900" indent="-3429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Studies re-annotating benchmarks at finer detail (e.g. RT4CHART on RAGTruth) find many more hallucinations than coarse labelling had shown.</a:t>
            </a:r>
            <a:endParaRPr lang="en-US" sz="1500" dirty="0"/>
          </a:p>
          <a:p>
            <a:pPr marL="342900" indent="-3429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Many detectors also reduce every problem to a binary hallucinated / not-hallucinated label, which loses the difference between a claim that is simply unverifiable and one that directly contradicts the source.</a:t>
            </a:r>
            <a:endParaRPr lang="en-US" sz="1500" dirty="0"/>
          </a:p>
          <a:p>
            <a:pPr marL="342900" indent="-3429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This project proposes a claim-level, matching-based verification module: it splits an answer into atomic claims and checks each claim against the retrieved evidence, giving one of three labels — supported, unsupported, or contradicted.</a:t>
            </a:r>
            <a:endParaRPr lang="en-US" sz="1500" dirty="0"/>
          </a:p>
        </p:txBody>
      </p:sp>
      <p:sp>
        <p:nvSpPr>
          <p:cNvPr id="4" name="Text 2"/>
          <p:cNvSpPr txBox="1"/>
          <p:nvPr/>
        </p:nvSpPr>
        <p:spPr>
          <a:xfrm>
            <a:off x="11338560" y="6400800"/>
            <a:ext cx="457200" cy="274320"/>
          </a:xfrm>
          <a:prstGeom prst="rect">
            <a:avLst/>
          </a:prstGeom>
          <a:noFill/>
          <a:ln/>
        </p:spPr>
        <p:txBody>
          <a:bodyPr wrap="square" lIns="0" tIns="0" rIns="0" bIns="0" rtlCol="0" anchor="ctr"/>
          <a:lstStyle/>
          <a:p>
            <a:pPr marL="0" indent="0" algn="r">
              <a:buNone/>
            </a:pPr>
            <a:r>
              <a:rPr lang="en-US" sz="1000" dirty="0">
                <a:solidFill>
                  <a:srgbClr val="555555"/>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t"/>
          <a:lstStyle/>
          <a:p>
            <a:pPr marL="0" indent="0" algn="l">
              <a:buNone/>
            </a:pPr>
            <a:r>
              <a:rPr lang="en-US" sz="2800" b="1" dirty="0">
                <a:solidFill>
                  <a:srgbClr val="1A1A1A"/>
                </a:solidFill>
                <a:latin typeface="Calibri" pitchFamily="34" charset="0"/>
                <a:ea typeface="Calibri" pitchFamily="34" charset="-122"/>
                <a:cs typeface="Calibri" pitchFamily="34" charset="-120"/>
              </a:rPr>
              <a:t>Literature Survey</a:t>
            </a:r>
            <a:endParaRPr lang="en-US" sz="2800" dirty="0"/>
          </a:p>
        </p:txBody>
      </p:sp>
      <p:sp>
        <p:nvSpPr>
          <p:cNvPr id="3" name="Text 1"/>
          <p:cNvSpPr txBox="1"/>
          <p:nvPr/>
        </p:nvSpPr>
        <p:spPr>
          <a:xfrm>
            <a:off x="548640" y="1371600"/>
            <a:ext cx="11064240" cy="3200400"/>
          </a:xfrm>
          <a:prstGeom prst="rect">
            <a:avLst/>
          </a:prstGeom>
          <a:noFill/>
          <a:ln/>
        </p:spPr>
        <p:txBody>
          <a:bodyPr wrap="square" lIns="0" tIns="0" rIns="0" bIns="0" rtlCol="0" anchor="t"/>
          <a:lstStyle/>
          <a:p>
            <a:pPr marL="0" indent="0">
              <a:lnSpc>
                <a:spcPct val="130000"/>
              </a:lnSpc>
              <a:buNone/>
            </a:pPr>
            <a:r>
              <a:rPr lang="en-US" sz="1600" dirty="0">
                <a:solidFill>
                  <a:srgbClr val="1A1A1A"/>
                </a:solidFill>
                <a:latin typeface="Calibri" pitchFamily="34" charset="0"/>
                <a:ea typeface="Calibri" pitchFamily="34" charset="-122"/>
                <a:cs typeface="Calibri" pitchFamily="34" charset="-120"/>
              </a:rPr>
              <a:t>Twenty peer-reviewed, SCIE / Q1, Scopus and Web of Science indexed journal papers (2024-2026) were surveyed, published by Nature, Springer and Elsevier, alongside a focused set of recent papers on claim-level and matching-based verification of RAG systems.</a:t>
            </a:r>
            <a:endParaRPr lang="en-US" sz="1600" dirty="0"/>
          </a:p>
          <a:p>
            <a:pPr marL="0" indent="0">
              <a:lnSpc>
                <a:spcPct val="130000"/>
              </a:lnSpc>
              <a:buNone/>
            </a:pPr>
            <a:endParaRPr lang="en-US" sz="1600" dirty="0"/>
          </a:p>
          <a:p>
            <a:pPr marL="0" indent="0">
              <a:lnSpc>
                <a:spcPct val="130000"/>
              </a:lnSpc>
              <a:buNone/>
            </a:pPr>
            <a:r>
              <a:rPr lang="en-US" sz="1600" dirty="0">
                <a:solidFill>
                  <a:srgbClr val="1A1A1A"/>
                </a:solidFill>
                <a:latin typeface="Calibri" pitchFamily="34" charset="0"/>
                <a:ea typeface="Calibri" pitchFamily="34" charset="-122"/>
                <a:cs typeface="Calibri" pitchFamily="34" charset="-120"/>
              </a:rPr>
              <a:t>The following slides present the same summary table as in the report, one paper per slide, in the same order as Table 2.1.</a:t>
            </a:r>
            <a:endParaRPr lang="en-US" sz="1600" dirty="0"/>
          </a:p>
        </p:txBody>
      </p:sp>
      <p:sp>
        <p:nvSpPr>
          <p:cNvPr id="4" name="Text 2"/>
          <p:cNvSpPr txBox="1"/>
          <p:nvPr/>
        </p:nvSpPr>
        <p:spPr>
          <a:xfrm>
            <a:off x="11338560" y="6400800"/>
            <a:ext cx="457200" cy="274320"/>
          </a:xfrm>
          <a:prstGeom prst="rect">
            <a:avLst/>
          </a:prstGeom>
          <a:noFill/>
          <a:ln/>
        </p:spPr>
        <p:txBody>
          <a:bodyPr wrap="square" lIns="0" tIns="0" rIns="0" bIns="0" rtlCol="0" anchor="ctr"/>
          <a:lstStyle/>
          <a:p>
            <a:pPr marL="0" indent="0" algn="r">
              <a:buNone/>
            </a:pPr>
            <a:r>
              <a:rPr lang="en-US" sz="1000" dirty="0">
                <a:solidFill>
                  <a:srgbClr val="555555"/>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64240" cy="274320"/>
          </a:xfrm>
          <a:prstGeom prst="rect">
            <a:avLst/>
          </a:prstGeom>
          <a:noFill/>
          <a:ln/>
        </p:spPr>
        <p:txBody>
          <a:bodyPr wrap="square" lIns="0" tIns="0" rIns="0" bIns="0" rtlCol="0" anchor="ctr"/>
          <a:lstStyle/>
          <a:p>
            <a:pPr marL="0" indent="0">
              <a:buNone/>
            </a:pPr>
            <a:r>
              <a:rPr lang="en-US" sz="1200" dirty="0">
                <a:solidFill>
                  <a:srgbClr val="555555"/>
                </a:solidFill>
                <a:latin typeface="Calibri" pitchFamily="34" charset="0"/>
                <a:ea typeface="Calibri" pitchFamily="34" charset="-122"/>
                <a:cs typeface="Calibri" pitchFamily="34" charset="-120"/>
              </a:rPr>
              <a:t>Paper 1 of 20</a:t>
            </a:r>
            <a:endParaRPr lang="en-US" sz="1200" dirty="0"/>
          </a:p>
        </p:txBody>
      </p:sp>
      <p:sp>
        <p:nvSpPr>
          <p:cNvPr id="3" name="Text 1"/>
          <p:cNvSpPr txBox="1"/>
          <p:nvPr/>
        </p:nvSpPr>
        <p:spPr>
          <a:xfrm>
            <a:off x="548640" y="594360"/>
            <a:ext cx="11064240" cy="777240"/>
          </a:xfrm>
          <a:prstGeom prst="rect">
            <a:avLst/>
          </a:prstGeom>
          <a:noFill/>
          <a:ln/>
        </p:spPr>
        <p:txBody>
          <a:bodyPr wrap="square" lIns="0" tIns="0" rIns="0" bIns="0" rtlCol="0" anchor="t"/>
          <a:lstStyle/>
          <a:p>
            <a:pPr marL="0" indent="0">
              <a:buNone/>
            </a:pPr>
            <a:r>
              <a:rPr lang="en-US" sz="1900" b="1" dirty="0">
                <a:solidFill>
                  <a:srgbClr val="1A1A1A"/>
                </a:solidFill>
                <a:latin typeface="Calibri" pitchFamily="34" charset="0"/>
                <a:ea typeface="Calibri" pitchFamily="34" charset="-122"/>
                <a:cs typeface="Calibri" pitchFamily="34" charset="-120"/>
              </a:rPr>
              <a:t>Detecting hallucinations in large language models using semantic entropy</a:t>
            </a:r>
            <a:endParaRPr lang="en-US" sz="1900" dirty="0"/>
          </a:p>
        </p:txBody>
      </p:sp>
      <p:sp>
        <p:nvSpPr>
          <p:cNvPr id="4" name="Text 2"/>
          <p:cNvSpPr txBox="1"/>
          <p:nvPr/>
        </p:nvSpPr>
        <p:spPr>
          <a:xfrm>
            <a:off x="548640" y="1463040"/>
            <a:ext cx="5394960" cy="5029200"/>
          </a:xfrm>
          <a:prstGeom prst="rect">
            <a:avLst/>
          </a:prstGeom>
          <a:noFill/>
          <a:ln/>
        </p:spPr>
        <p:txBody>
          <a:bodyPr wrap="square" lIns="0" tIns="0" rIns="0" bIns="0" rtlCol="0" anchor="t"/>
          <a:lstStyle/>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Authors: </a:t>
            </a:r>
            <a:r>
              <a:rPr lang="en-US" sz="1150" dirty="0">
                <a:solidFill>
                  <a:srgbClr val="1A1A1A"/>
                </a:solidFill>
                <a:latin typeface="Calibri" pitchFamily="34" charset="0"/>
                <a:ea typeface="Calibri" pitchFamily="34" charset="-122"/>
                <a:cs typeface="Calibri" pitchFamily="34" charset="-120"/>
              </a:rPr>
              <a:t>Sebastian Farquhar, Jannik Kossen, Lorenz Kuhn, Yarin Gal</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Year: </a:t>
            </a:r>
            <a:r>
              <a:rPr lang="en-US" sz="1150" dirty="0">
                <a:solidFill>
                  <a:srgbClr val="1A1A1A"/>
                </a:solidFill>
                <a:latin typeface="Calibri" pitchFamily="34" charset="0"/>
                <a:ea typeface="Calibri" pitchFamily="34" charset="-122"/>
                <a:cs typeface="Calibri" pitchFamily="34" charset="-120"/>
              </a:rPr>
              <a:t>2024</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Journal: </a:t>
            </a:r>
            <a:r>
              <a:rPr lang="en-US" sz="1150" dirty="0">
                <a:solidFill>
                  <a:srgbClr val="1A1A1A"/>
                </a:solidFill>
                <a:latin typeface="Calibri" pitchFamily="34" charset="0"/>
                <a:ea typeface="Calibri" pitchFamily="34" charset="-122"/>
                <a:cs typeface="Calibri" pitchFamily="34" charset="-120"/>
              </a:rPr>
              <a:t>Nature</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Publisher: </a:t>
            </a:r>
            <a:r>
              <a:rPr lang="en-US" sz="1150" dirty="0">
                <a:solidFill>
                  <a:srgbClr val="1A1A1A"/>
                </a:solidFill>
                <a:latin typeface="Calibri" pitchFamily="34" charset="0"/>
                <a:ea typeface="Calibri" pitchFamily="34" charset="-122"/>
                <a:cs typeface="Calibri" pitchFamily="34" charset="-120"/>
              </a:rPr>
              <a:t>Springer Nature</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Study Type: </a:t>
            </a:r>
            <a:r>
              <a:rPr lang="en-US" sz="1150" dirty="0">
                <a:solidFill>
                  <a:srgbClr val="1A1A1A"/>
                </a:solidFill>
                <a:latin typeface="Calibri" pitchFamily="34" charset="0"/>
                <a:ea typeface="Calibri" pitchFamily="34" charset="-122"/>
                <a:cs typeface="Calibri" pitchFamily="34" charset="-120"/>
              </a:rPr>
              <a:t>Hallucination detection</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Hallucination Focus: </a:t>
            </a:r>
            <a:r>
              <a:rPr lang="en-US" sz="1150" dirty="0">
                <a:solidFill>
                  <a:srgbClr val="1A1A1A"/>
                </a:solidFill>
                <a:latin typeface="Calibri" pitchFamily="34" charset="0"/>
                <a:ea typeface="Calibri" pitchFamily="34" charset="-122"/>
                <a:cs typeface="Calibri" pitchFamily="34" charset="-120"/>
              </a:rPr>
              <a:t>Confabulation / uncertainty</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Indexing: </a:t>
            </a:r>
            <a:r>
              <a:rPr lang="en-US" sz="1150" dirty="0">
                <a:solidFill>
                  <a:srgbClr val="1A1A1A"/>
                </a:solidFill>
                <a:latin typeface="Calibri" pitchFamily="34" charset="0"/>
                <a:ea typeface="Calibri" pitchFamily="34" charset="-122"/>
                <a:cs typeface="Calibri" pitchFamily="34" charset="-120"/>
              </a:rPr>
              <a:t>Yes, SCIE, Q1</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Source URL: </a:t>
            </a:r>
            <a:r>
              <a:rPr lang="en-US" sz="1150" dirty="0">
                <a:solidFill>
                  <a:srgbClr val="1A1A1A"/>
                </a:solidFill>
                <a:latin typeface="Calibri" pitchFamily="34" charset="0"/>
                <a:ea typeface="Calibri" pitchFamily="34" charset="-122"/>
                <a:cs typeface="Calibri" pitchFamily="34" charset="-120"/>
              </a:rPr>
              <a:t>https://www.nature.com/articles/s41586-024-07421-0</a:t>
            </a:r>
            <a:endParaRPr lang="en-US" sz="1150" dirty="0"/>
          </a:p>
        </p:txBody>
      </p:sp>
      <p:sp>
        <p:nvSpPr>
          <p:cNvPr id="5" name="Text 3"/>
          <p:cNvSpPr txBox="1"/>
          <p:nvPr/>
        </p:nvSpPr>
        <p:spPr>
          <a:xfrm>
            <a:off x="6172200" y="1463040"/>
            <a:ext cx="5440680" cy="5029200"/>
          </a:xfrm>
          <a:prstGeom prst="rect">
            <a:avLst/>
          </a:prstGeom>
          <a:noFill/>
          <a:ln/>
        </p:spPr>
        <p:txBody>
          <a:bodyPr wrap="square" lIns="0" tIns="0" rIns="0" bIns="0" rtlCol="0" anchor="t"/>
          <a:lstStyle/>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Method: </a:t>
            </a:r>
            <a:r>
              <a:rPr lang="en-US" sz="1150" dirty="0">
                <a:solidFill>
                  <a:srgbClr val="1A1A1A"/>
                </a:solidFill>
                <a:latin typeface="Calibri" pitchFamily="34" charset="0"/>
                <a:ea typeface="Calibri" pitchFamily="34" charset="-122"/>
                <a:cs typeface="Calibri" pitchFamily="34" charset="-120"/>
              </a:rPr>
              <a:t>Introduces semantic entropy: clusters semantically equivalent answers and measures uncertainty over meanings rather than token sequences.</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Key Finding: </a:t>
            </a:r>
            <a:r>
              <a:rPr lang="en-US" sz="1150" dirty="0">
                <a:solidFill>
                  <a:srgbClr val="1A1A1A"/>
                </a:solidFill>
                <a:latin typeface="Calibri" pitchFamily="34" charset="0"/>
                <a:ea typeface="Calibri" pitchFamily="34" charset="-122"/>
                <a:cs typeface="Calibri" pitchFamily="34" charset="-120"/>
              </a:rPr>
              <a:t>Semantic entropy can identify many confabulations without requiring a reference answer and improves over naive uncertainty measures.</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Research Gap: </a:t>
            </a:r>
            <a:r>
              <a:rPr lang="en-US" sz="1150" dirty="0">
                <a:solidFill>
                  <a:srgbClr val="1A1A1A"/>
                </a:solidFill>
                <a:latin typeface="Calibri" pitchFamily="34" charset="0"/>
                <a:ea typeface="Calibri" pitchFamily="34" charset="-122"/>
                <a:cs typeface="Calibri" pitchFamily="34" charset="-120"/>
              </a:rPr>
              <a:t>Targets uncertainty-driven confabulations only; does not cover factual, citation, reasoning, tool-use or long-context hallucinations. Cost of repeated sampling and calibration remains open.</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Significance: </a:t>
            </a:r>
            <a:r>
              <a:rPr lang="en-US" sz="1150" dirty="0">
                <a:solidFill>
                  <a:srgbClr val="1A1A1A"/>
                </a:solidFill>
                <a:latin typeface="Calibri" pitchFamily="34" charset="0"/>
                <a:ea typeface="Calibri" pitchFamily="34" charset="-122"/>
                <a:cs typeface="Calibri" pitchFamily="34" charset="-120"/>
              </a:rPr>
              <a:t>Strong baseline for uncertainty-aware detection; can be combined with evidence verification and agent-based checking.</a:t>
            </a:r>
            <a:endParaRPr lang="en-US" sz="1150" dirty="0"/>
          </a:p>
        </p:txBody>
      </p:sp>
      <p:sp>
        <p:nvSpPr>
          <p:cNvPr id="6" name="Text 4"/>
          <p:cNvSpPr txBox="1"/>
          <p:nvPr/>
        </p:nvSpPr>
        <p:spPr>
          <a:xfrm>
            <a:off x="11338560" y="6400800"/>
            <a:ext cx="457200" cy="274320"/>
          </a:xfrm>
          <a:prstGeom prst="rect">
            <a:avLst/>
          </a:prstGeom>
          <a:noFill/>
          <a:ln/>
        </p:spPr>
        <p:txBody>
          <a:bodyPr wrap="square" lIns="0" tIns="0" rIns="0" bIns="0" rtlCol="0" anchor="ctr"/>
          <a:lstStyle/>
          <a:p>
            <a:pPr marL="0" indent="0" algn="r">
              <a:buNone/>
            </a:pPr>
            <a:r>
              <a:rPr lang="en-US" sz="1000" dirty="0">
                <a:solidFill>
                  <a:srgbClr val="555555"/>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1064240" cy="274320"/>
          </a:xfrm>
          <a:prstGeom prst="rect">
            <a:avLst/>
          </a:prstGeom>
          <a:noFill/>
          <a:ln/>
        </p:spPr>
        <p:txBody>
          <a:bodyPr wrap="square" lIns="0" tIns="0" rIns="0" bIns="0" rtlCol="0" anchor="ctr"/>
          <a:lstStyle/>
          <a:p>
            <a:pPr marL="0" indent="0">
              <a:buNone/>
            </a:pPr>
            <a:r>
              <a:rPr lang="en-US" sz="1200" dirty="0">
                <a:solidFill>
                  <a:srgbClr val="555555"/>
                </a:solidFill>
                <a:latin typeface="Calibri" pitchFamily="34" charset="0"/>
                <a:ea typeface="Calibri" pitchFamily="34" charset="-122"/>
                <a:cs typeface="Calibri" pitchFamily="34" charset="-120"/>
              </a:rPr>
              <a:t>Paper 2 of 20</a:t>
            </a:r>
            <a:endParaRPr lang="en-US" sz="1200" dirty="0"/>
          </a:p>
        </p:txBody>
      </p:sp>
      <p:sp>
        <p:nvSpPr>
          <p:cNvPr id="3" name="Text 1"/>
          <p:cNvSpPr txBox="1"/>
          <p:nvPr/>
        </p:nvSpPr>
        <p:spPr>
          <a:xfrm>
            <a:off x="548640" y="594360"/>
            <a:ext cx="11064240" cy="777240"/>
          </a:xfrm>
          <a:prstGeom prst="rect">
            <a:avLst/>
          </a:prstGeom>
          <a:noFill/>
          <a:ln/>
        </p:spPr>
        <p:txBody>
          <a:bodyPr wrap="square" lIns="0" tIns="0" rIns="0" bIns="0" rtlCol="0" anchor="t"/>
          <a:lstStyle/>
          <a:p>
            <a:pPr marL="0" indent="0">
              <a:buNone/>
            </a:pPr>
            <a:r>
              <a:rPr lang="en-US" sz="1900" b="1" dirty="0">
                <a:solidFill>
                  <a:srgbClr val="1A1A1A"/>
                </a:solidFill>
                <a:latin typeface="Calibri" pitchFamily="34" charset="0"/>
                <a:ea typeface="Calibri" pitchFamily="34" charset="-122"/>
                <a:cs typeface="Calibri" pitchFamily="34" charset="-120"/>
              </a:rPr>
              <a:t>Quantifying the uncertainty of LLM hallucination spreading in complex adaptive social networks</a:t>
            </a:r>
            <a:endParaRPr lang="en-US" sz="1900" dirty="0"/>
          </a:p>
        </p:txBody>
      </p:sp>
      <p:sp>
        <p:nvSpPr>
          <p:cNvPr id="4" name="Text 2"/>
          <p:cNvSpPr txBox="1"/>
          <p:nvPr/>
        </p:nvSpPr>
        <p:spPr>
          <a:xfrm>
            <a:off x="548640" y="1463040"/>
            <a:ext cx="5394960" cy="5029200"/>
          </a:xfrm>
          <a:prstGeom prst="rect">
            <a:avLst/>
          </a:prstGeom>
          <a:noFill/>
          <a:ln/>
        </p:spPr>
        <p:txBody>
          <a:bodyPr wrap="square" lIns="0" tIns="0" rIns="0" bIns="0" rtlCol="0" anchor="t"/>
          <a:lstStyle/>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Authors: </a:t>
            </a:r>
            <a:r>
              <a:rPr lang="en-US" sz="1150" dirty="0">
                <a:solidFill>
                  <a:srgbClr val="1A1A1A"/>
                </a:solidFill>
                <a:latin typeface="Calibri" pitchFamily="34" charset="0"/>
                <a:ea typeface="Calibri" pitchFamily="34" charset="-122"/>
                <a:cs typeface="Calibri" pitchFamily="34" charset="-120"/>
              </a:rPr>
              <a:t>Guozhi Hao, Jun Wu, Qianqian Pan, Rosario Morello</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Year: </a:t>
            </a:r>
            <a:r>
              <a:rPr lang="en-US" sz="1150" dirty="0">
                <a:solidFill>
                  <a:srgbClr val="1A1A1A"/>
                </a:solidFill>
                <a:latin typeface="Calibri" pitchFamily="34" charset="0"/>
                <a:ea typeface="Calibri" pitchFamily="34" charset="-122"/>
                <a:cs typeface="Calibri" pitchFamily="34" charset="-120"/>
              </a:rPr>
              <a:t>2024</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Journal: </a:t>
            </a:r>
            <a:r>
              <a:rPr lang="en-US" sz="1150" dirty="0">
                <a:solidFill>
                  <a:srgbClr val="1A1A1A"/>
                </a:solidFill>
                <a:latin typeface="Calibri" pitchFamily="34" charset="0"/>
                <a:ea typeface="Calibri" pitchFamily="34" charset="-122"/>
                <a:cs typeface="Calibri" pitchFamily="34" charset="-120"/>
              </a:rPr>
              <a:t>Scientific Reports</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Publisher: </a:t>
            </a:r>
            <a:r>
              <a:rPr lang="en-US" sz="1150" dirty="0">
                <a:solidFill>
                  <a:srgbClr val="1A1A1A"/>
                </a:solidFill>
                <a:latin typeface="Calibri" pitchFamily="34" charset="0"/>
                <a:ea typeface="Calibri" pitchFamily="34" charset="-122"/>
                <a:cs typeface="Calibri" pitchFamily="34" charset="-120"/>
              </a:rPr>
              <a:t>Springer Nature</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Study Type: </a:t>
            </a:r>
            <a:r>
              <a:rPr lang="en-US" sz="1150" dirty="0">
                <a:solidFill>
                  <a:srgbClr val="1A1A1A"/>
                </a:solidFill>
                <a:latin typeface="Calibri" pitchFamily="34" charset="0"/>
                <a:ea typeface="Calibri" pitchFamily="34" charset="-122"/>
                <a:cs typeface="Calibri" pitchFamily="34" charset="-120"/>
              </a:rPr>
              <a:t>Hallucination propagation</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Hallucination Focus: </a:t>
            </a:r>
            <a:r>
              <a:rPr lang="en-US" sz="1150" dirty="0">
                <a:solidFill>
                  <a:srgbClr val="1A1A1A"/>
                </a:solidFill>
                <a:latin typeface="Calibri" pitchFamily="34" charset="0"/>
                <a:ea typeface="Calibri" pitchFamily="34" charset="-122"/>
                <a:cs typeface="Calibri" pitchFamily="34" charset="-120"/>
              </a:rPr>
              <a:t>Social-network spread of false LLM content</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Indexing: </a:t>
            </a:r>
            <a:r>
              <a:rPr lang="en-US" sz="1150" dirty="0">
                <a:solidFill>
                  <a:srgbClr val="1A1A1A"/>
                </a:solidFill>
                <a:latin typeface="Calibri" pitchFamily="34" charset="0"/>
                <a:ea typeface="Calibri" pitchFamily="34" charset="-122"/>
                <a:cs typeface="Calibri" pitchFamily="34" charset="-120"/>
              </a:rPr>
              <a:t>Yes, SCIE, Q1</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Source URL: </a:t>
            </a:r>
            <a:r>
              <a:rPr lang="en-US" sz="1150" dirty="0">
                <a:solidFill>
                  <a:srgbClr val="1A1A1A"/>
                </a:solidFill>
                <a:latin typeface="Calibri" pitchFamily="34" charset="0"/>
                <a:ea typeface="Calibri" pitchFamily="34" charset="-122"/>
                <a:cs typeface="Calibri" pitchFamily="34" charset="-120"/>
              </a:rPr>
              <a:t>https://www.nature.com/articles/s41598-024-66708-4</a:t>
            </a:r>
            <a:endParaRPr lang="en-US" sz="1150" dirty="0"/>
          </a:p>
        </p:txBody>
      </p:sp>
      <p:sp>
        <p:nvSpPr>
          <p:cNvPr id="5" name="Text 3"/>
          <p:cNvSpPr txBox="1"/>
          <p:nvPr/>
        </p:nvSpPr>
        <p:spPr>
          <a:xfrm>
            <a:off x="6172200" y="1463040"/>
            <a:ext cx="5440680" cy="5029200"/>
          </a:xfrm>
          <a:prstGeom prst="rect">
            <a:avLst/>
          </a:prstGeom>
          <a:noFill/>
          <a:ln/>
        </p:spPr>
        <p:txBody>
          <a:bodyPr wrap="square" lIns="0" tIns="0" rIns="0" bIns="0" rtlCol="0" anchor="t"/>
          <a:lstStyle/>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Method: </a:t>
            </a:r>
            <a:r>
              <a:rPr lang="en-US" sz="1150" dirty="0">
                <a:solidFill>
                  <a:srgbClr val="1A1A1A"/>
                </a:solidFill>
                <a:latin typeface="Calibri" pitchFamily="34" charset="0"/>
                <a:ea typeface="Calibri" pitchFamily="34" charset="-122"/>
                <a:cs typeface="Calibri" pitchFamily="34" charset="-120"/>
              </a:rPr>
              <a:t>Models how hallucinated LLM content can propagate through complex adaptive social networks and quantifies uncertainty in spreading.</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Key Finding: </a:t>
            </a:r>
            <a:r>
              <a:rPr lang="en-US" sz="1150" dirty="0">
                <a:solidFill>
                  <a:srgbClr val="1A1A1A"/>
                </a:solidFill>
                <a:latin typeface="Calibri" pitchFamily="34" charset="0"/>
                <a:ea typeface="Calibri" pitchFamily="34" charset="-122"/>
                <a:cs typeface="Calibri" pitchFamily="34" charset="-120"/>
              </a:rPr>
              <a:t>Hallucination risk is not only a model-level issue; network structure and interaction dynamics can amplify misinformation.</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Research Gap: </a:t>
            </a:r>
            <a:r>
              <a:rPr lang="en-US" sz="1150" dirty="0">
                <a:solidFill>
                  <a:srgbClr val="1A1A1A"/>
                </a:solidFill>
                <a:latin typeface="Calibri" pitchFamily="34" charset="0"/>
                <a:ea typeface="Calibri" pitchFamily="34" charset="-122"/>
                <a:cs typeface="Calibri" pitchFamily="34" charset="-120"/>
              </a:rPr>
              <a:t>Focuses on propagation after hallucination occurs, not on detecting or correcting the original claim. Needs validation on real multi-platform, multilingual, time-evolving networks.</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Significance: </a:t>
            </a:r>
            <a:r>
              <a:rPr lang="en-US" sz="1150" dirty="0">
                <a:solidFill>
                  <a:srgbClr val="1A1A1A"/>
                </a:solidFill>
                <a:latin typeface="Calibri" pitchFamily="34" charset="0"/>
                <a:ea typeface="Calibri" pitchFamily="34" charset="-122"/>
                <a:cs typeface="Calibri" pitchFamily="34" charset="-120"/>
              </a:rPr>
              <a:t>Useful for studying downstream impact and risk-aware deployment rather than only model accuracy.</a:t>
            </a:r>
            <a:endParaRPr lang="en-US" sz="1150" dirty="0"/>
          </a:p>
        </p:txBody>
      </p:sp>
      <p:sp>
        <p:nvSpPr>
          <p:cNvPr id="6" name="Text 4"/>
          <p:cNvSpPr txBox="1"/>
          <p:nvPr/>
        </p:nvSpPr>
        <p:spPr>
          <a:xfrm>
            <a:off x="11338560" y="6400800"/>
            <a:ext cx="457200" cy="274320"/>
          </a:xfrm>
          <a:prstGeom prst="rect">
            <a:avLst/>
          </a:prstGeom>
          <a:noFill/>
          <a:ln/>
        </p:spPr>
        <p:txBody>
          <a:bodyPr wrap="square" lIns="0" tIns="0" rIns="0" bIns="0" rtlCol="0" anchor="ctr"/>
          <a:lstStyle/>
          <a:p>
            <a:pPr marL="0" indent="0" algn="r">
              <a:buNone/>
            </a:pPr>
            <a:r>
              <a:rPr lang="en-US" sz="1000" dirty="0">
                <a:solidFill>
                  <a:srgbClr val="555555"/>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64240" cy="274320"/>
          </a:xfrm>
          <a:prstGeom prst="rect">
            <a:avLst/>
          </a:prstGeom>
          <a:noFill/>
          <a:ln/>
        </p:spPr>
        <p:txBody>
          <a:bodyPr wrap="square" lIns="0" tIns="0" rIns="0" bIns="0" rtlCol="0" anchor="ctr"/>
          <a:lstStyle/>
          <a:p>
            <a:pPr marL="0" indent="0">
              <a:buNone/>
            </a:pPr>
            <a:r>
              <a:rPr lang="en-US" sz="1200" dirty="0">
                <a:solidFill>
                  <a:srgbClr val="555555"/>
                </a:solidFill>
                <a:latin typeface="Calibri" pitchFamily="34" charset="0"/>
                <a:ea typeface="Calibri" pitchFamily="34" charset="-122"/>
                <a:cs typeface="Calibri" pitchFamily="34" charset="-120"/>
              </a:rPr>
              <a:t>Paper 3 of 20</a:t>
            </a:r>
            <a:endParaRPr lang="en-US" sz="1200" dirty="0"/>
          </a:p>
        </p:txBody>
      </p:sp>
      <p:sp>
        <p:nvSpPr>
          <p:cNvPr id="3" name="Text 1"/>
          <p:cNvSpPr txBox="1"/>
          <p:nvPr/>
        </p:nvSpPr>
        <p:spPr>
          <a:xfrm>
            <a:off x="548640" y="594360"/>
            <a:ext cx="11064240" cy="777240"/>
          </a:xfrm>
          <a:prstGeom prst="rect">
            <a:avLst/>
          </a:prstGeom>
          <a:noFill/>
          <a:ln/>
        </p:spPr>
        <p:txBody>
          <a:bodyPr wrap="square" lIns="0" tIns="0" rIns="0" bIns="0" rtlCol="0" anchor="t"/>
          <a:lstStyle/>
          <a:p>
            <a:pPr marL="0" indent="0">
              <a:buNone/>
            </a:pPr>
            <a:r>
              <a:rPr lang="en-US" sz="1900" b="1" dirty="0">
                <a:solidFill>
                  <a:srgbClr val="1A1A1A"/>
                </a:solidFill>
                <a:latin typeface="Calibri" pitchFamily="34" charset="0"/>
                <a:ea typeface="Calibri" pitchFamily="34" charset="-122"/>
                <a:cs typeface="Calibri" pitchFamily="34" charset="-120"/>
              </a:rPr>
              <a:t>Woodpecker: hallucination correction for multimodal large language models</a:t>
            </a:r>
            <a:endParaRPr lang="en-US" sz="1900" dirty="0"/>
          </a:p>
        </p:txBody>
      </p:sp>
      <p:sp>
        <p:nvSpPr>
          <p:cNvPr id="4" name="Text 2"/>
          <p:cNvSpPr txBox="1"/>
          <p:nvPr/>
        </p:nvSpPr>
        <p:spPr>
          <a:xfrm>
            <a:off x="548640" y="1463040"/>
            <a:ext cx="5394960" cy="5029200"/>
          </a:xfrm>
          <a:prstGeom prst="rect">
            <a:avLst/>
          </a:prstGeom>
          <a:noFill/>
          <a:ln/>
        </p:spPr>
        <p:txBody>
          <a:bodyPr wrap="square" lIns="0" tIns="0" rIns="0" bIns="0" rtlCol="0" anchor="t"/>
          <a:lstStyle/>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Authors: </a:t>
            </a:r>
            <a:r>
              <a:rPr lang="en-US" sz="1150" dirty="0">
                <a:solidFill>
                  <a:srgbClr val="1A1A1A"/>
                </a:solidFill>
                <a:latin typeface="Calibri" pitchFamily="34" charset="0"/>
                <a:ea typeface="Calibri" pitchFamily="34" charset="-122"/>
                <a:cs typeface="Calibri" pitchFamily="34" charset="-120"/>
              </a:rPr>
              <a:t>Shukang Yin, Chaoyou Fu, Sirui Zhao, et al.</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Year: </a:t>
            </a:r>
            <a:r>
              <a:rPr lang="en-US" sz="1150" dirty="0">
                <a:solidFill>
                  <a:srgbClr val="1A1A1A"/>
                </a:solidFill>
                <a:latin typeface="Calibri" pitchFamily="34" charset="0"/>
                <a:ea typeface="Calibri" pitchFamily="34" charset="-122"/>
                <a:cs typeface="Calibri" pitchFamily="34" charset="-120"/>
              </a:rPr>
              <a:t>2024</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Journal: </a:t>
            </a:r>
            <a:r>
              <a:rPr lang="en-US" sz="1150" dirty="0">
                <a:solidFill>
                  <a:srgbClr val="1A1A1A"/>
                </a:solidFill>
                <a:latin typeface="Calibri" pitchFamily="34" charset="0"/>
                <a:ea typeface="Calibri" pitchFamily="34" charset="-122"/>
                <a:cs typeface="Calibri" pitchFamily="34" charset="-120"/>
              </a:rPr>
              <a:t>Science China Information Sciences</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Publisher: </a:t>
            </a:r>
            <a:r>
              <a:rPr lang="en-US" sz="1150" dirty="0">
                <a:solidFill>
                  <a:srgbClr val="1A1A1A"/>
                </a:solidFill>
                <a:latin typeface="Calibri" pitchFamily="34" charset="0"/>
                <a:ea typeface="Calibri" pitchFamily="34" charset="-122"/>
                <a:cs typeface="Calibri" pitchFamily="34" charset="-120"/>
              </a:rPr>
              <a:t>Springer Nature</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Study Type: </a:t>
            </a:r>
            <a:r>
              <a:rPr lang="en-US" sz="1150" dirty="0">
                <a:solidFill>
                  <a:srgbClr val="1A1A1A"/>
                </a:solidFill>
                <a:latin typeface="Calibri" pitchFamily="34" charset="0"/>
                <a:ea typeface="Calibri" pitchFamily="34" charset="-122"/>
                <a:cs typeface="Calibri" pitchFamily="34" charset="-120"/>
              </a:rPr>
              <a:t>Hallucination correction</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Hallucination Focus: </a:t>
            </a:r>
            <a:r>
              <a:rPr lang="en-US" sz="1150" dirty="0">
                <a:solidFill>
                  <a:srgbClr val="1A1A1A"/>
                </a:solidFill>
                <a:latin typeface="Calibri" pitchFamily="34" charset="0"/>
                <a:ea typeface="Calibri" pitchFamily="34" charset="-122"/>
                <a:cs typeface="Calibri" pitchFamily="34" charset="-120"/>
              </a:rPr>
              <a:t>Multimodal / visual hallucination</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Indexing: </a:t>
            </a:r>
            <a:r>
              <a:rPr lang="en-US" sz="1150" dirty="0">
                <a:solidFill>
                  <a:srgbClr val="1A1A1A"/>
                </a:solidFill>
                <a:latin typeface="Calibri" pitchFamily="34" charset="0"/>
                <a:ea typeface="Calibri" pitchFamily="34" charset="-122"/>
                <a:cs typeface="Calibri" pitchFamily="34" charset="-120"/>
              </a:rPr>
              <a:t>Yes, SCIE, Q1</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Source URL: </a:t>
            </a:r>
            <a:r>
              <a:rPr lang="en-US" sz="1150" dirty="0">
                <a:solidFill>
                  <a:srgbClr val="1A1A1A"/>
                </a:solidFill>
                <a:latin typeface="Calibri" pitchFamily="34" charset="0"/>
                <a:ea typeface="Calibri" pitchFamily="34" charset="-122"/>
                <a:cs typeface="Calibri" pitchFamily="34" charset="-120"/>
              </a:rPr>
              <a:t>https://link.springer.com/article/10.1007/s11432-024-4251-x</a:t>
            </a:r>
            <a:endParaRPr lang="en-US" sz="1150" dirty="0"/>
          </a:p>
        </p:txBody>
      </p:sp>
      <p:sp>
        <p:nvSpPr>
          <p:cNvPr id="5" name="Text 3"/>
          <p:cNvSpPr txBox="1"/>
          <p:nvPr/>
        </p:nvSpPr>
        <p:spPr>
          <a:xfrm>
            <a:off x="6172200" y="1463040"/>
            <a:ext cx="5440680" cy="5029200"/>
          </a:xfrm>
          <a:prstGeom prst="rect">
            <a:avLst/>
          </a:prstGeom>
          <a:noFill/>
          <a:ln/>
        </p:spPr>
        <p:txBody>
          <a:bodyPr wrap="square" lIns="0" tIns="0" rIns="0" bIns="0" rtlCol="0" anchor="t"/>
          <a:lstStyle/>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Method: </a:t>
            </a:r>
            <a:r>
              <a:rPr lang="en-US" sz="1150" dirty="0">
                <a:solidFill>
                  <a:srgbClr val="1A1A1A"/>
                </a:solidFill>
                <a:latin typeface="Calibri" pitchFamily="34" charset="0"/>
                <a:ea typeface="Calibri" pitchFamily="34" charset="-122"/>
                <a:cs typeface="Calibri" pitchFamily="34" charset="-120"/>
              </a:rPr>
              <a:t>Uses a post-hoc correction pipeline that identifies questionable visual claims, gathers evidence, and revises the generated answer.</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Key Finding: </a:t>
            </a:r>
            <a:r>
              <a:rPr lang="en-US" sz="1150" dirty="0">
                <a:solidFill>
                  <a:srgbClr val="1A1A1A"/>
                </a:solidFill>
                <a:latin typeface="Calibri" pitchFamily="34" charset="0"/>
                <a:ea typeface="Calibri" pitchFamily="34" charset="-122"/>
                <a:cs typeface="Calibri" pitchFamily="34" charset="-120"/>
              </a:rPr>
              <a:t>External evidence and structured correction can reduce object-level hallucinations in multimodal LLM outputs.</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Research Gap: </a:t>
            </a:r>
            <a:r>
              <a:rPr lang="en-US" sz="1150" dirty="0">
                <a:solidFill>
                  <a:srgbClr val="1A1A1A"/>
                </a:solidFill>
                <a:latin typeface="Calibri" pitchFamily="34" charset="0"/>
                <a:ea typeface="Calibri" pitchFamily="34" charset="-122"/>
                <a:cs typeface="Calibri" pitchFamily="34" charset="-120"/>
              </a:rPr>
              <a:t>Pipeline is complex and depends on auxiliary models/tools; correction is not a formal guarantee. Generalization to non-visual, video, long-document and real-time settings is limited.</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Significance: </a:t>
            </a:r>
            <a:r>
              <a:rPr lang="en-US" sz="1150" dirty="0">
                <a:solidFill>
                  <a:srgbClr val="1A1A1A"/>
                </a:solidFill>
                <a:latin typeface="Calibri" pitchFamily="34" charset="0"/>
                <a:ea typeface="Calibri" pitchFamily="34" charset="-122"/>
                <a:cs typeface="Calibri" pitchFamily="34" charset="-120"/>
              </a:rPr>
              <a:t>Important example of detect, verify, correct rather than detection alone.</a:t>
            </a:r>
            <a:endParaRPr lang="en-US" sz="1150" dirty="0"/>
          </a:p>
        </p:txBody>
      </p:sp>
      <p:sp>
        <p:nvSpPr>
          <p:cNvPr id="6" name="Text 4"/>
          <p:cNvSpPr txBox="1"/>
          <p:nvPr/>
        </p:nvSpPr>
        <p:spPr>
          <a:xfrm>
            <a:off x="11338560" y="6400800"/>
            <a:ext cx="457200" cy="274320"/>
          </a:xfrm>
          <a:prstGeom prst="rect">
            <a:avLst/>
          </a:prstGeom>
          <a:noFill/>
          <a:ln/>
        </p:spPr>
        <p:txBody>
          <a:bodyPr wrap="square" lIns="0" tIns="0" rIns="0" bIns="0" rtlCol="0" anchor="ctr"/>
          <a:lstStyle/>
          <a:p>
            <a:pPr marL="0" indent="0" algn="r">
              <a:buNone/>
            </a:pPr>
            <a:r>
              <a:rPr lang="en-US" sz="1000" dirty="0">
                <a:solidFill>
                  <a:srgbClr val="555555"/>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64240" cy="274320"/>
          </a:xfrm>
          <a:prstGeom prst="rect">
            <a:avLst/>
          </a:prstGeom>
          <a:noFill/>
          <a:ln/>
        </p:spPr>
        <p:txBody>
          <a:bodyPr wrap="square" lIns="0" tIns="0" rIns="0" bIns="0" rtlCol="0" anchor="ctr"/>
          <a:lstStyle/>
          <a:p>
            <a:pPr marL="0" indent="0">
              <a:buNone/>
            </a:pPr>
            <a:r>
              <a:rPr lang="en-US" sz="1200" dirty="0">
                <a:solidFill>
                  <a:srgbClr val="555555"/>
                </a:solidFill>
                <a:latin typeface="Calibri" pitchFamily="34" charset="0"/>
                <a:ea typeface="Calibri" pitchFamily="34" charset="-122"/>
                <a:cs typeface="Calibri" pitchFamily="34" charset="-120"/>
              </a:rPr>
              <a:t>Paper 4 of 20</a:t>
            </a:r>
            <a:endParaRPr lang="en-US" sz="1200" dirty="0"/>
          </a:p>
        </p:txBody>
      </p:sp>
      <p:sp>
        <p:nvSpPr>
          <p:cNvPr id="3" name="Text 1"/>
          <p:cNvSpPr txBox="1"/>
          <p:nvPr/>
        </p:nvSpPr>
        <p:spPr>
          <a:xfrm>
            <a:off x="548640" y="594360"/>
            <a:ext cx="11064240" cy="777240"/>
          </a:xfrm>
          <a:prstGeom prst="rect">
            <a:avLst/>
          </a:prstGeom>
          <a:noFill/>
          <a:ln/>
        </p:spPr>
        <p:txBody>
          <a:bodyPr wrap="square" lIns="0" tIns="0" rIns="0" bIns="0" rtlCol="0" anchor="t"/>
          <a:lstStyle/>
          <a:p>
            <a:pPr marL="0" indent="0">
              <a:buNone/>
            </a:pPr>
            <a:r>
              <a:rPr lang="en-US" sz="1900" b="1" dirty="0">
                <a:solidFill>
                  <a:srgbClr val="1A1A1A"/>
                </a:solidFill>
                <a:latin typeface="Calibri" pitchFamily="34" charset="0"/>
                <a:ea typeface="Calibri" pitchFamily="34" charset="-122"/>
                <a:cs typeface="Calibri" pitchFamily="34" charset="-120"/>
              </a:rPr>
              <a:t>Towards trustworthy LLMs: a review on debiasing and dehallucinating in large language models</a:t>
            </a:r>
            <a:endParaRPr lang="en-US" sz="1900" dirty="0"/>
          </a:p>
        </p:txBody>
      </p:sp>
      <p:sp>
        <p:nvSpPr>
          <p:cNvPr id="4" name="Text 2"/>
          <p:cNvSpPr txBox="1"/>
          <p:nvPr/>
        </p:nvSpPr>
        <p:spPr>
          <a:xfrm>
            <a:off x="548640" y="1463040"/>
            <a:ext cx="5394960" cy="5029200"/>
          </a:xfrm>
          <a:prstGeom prst="rect">
            <a:avLst/>
          </a:prstGeom>
          <a:noFill/>
          <a:ln/>
        </p:spPr>
        <p:txBody>
          <a:bodyPr wrap="square" lIns="0" tIns="0" rIns="0" bIns="0" rtlCol="0" anchor="t"/>
          <a:lstStyle/>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Authors: </a:t>
            </a:r>
            <a:r>
              <a:rPr lang="en-US" sz="1150" dirty="0">
                <a:solidFill>
                  <a:srgbClr val="1A1A1A"/>
                </a:solidFill>
                <a:latin typeface="Calibri" pitchFamily="34" charset="0"/>
                <a:ea typeface="Calibri" pitchFamily="34" charset="-122"/>
                <a:cs typeface="Calibri" pitchFamily="34" charset="-120"/>
              </a:rPr>
              <a:t>Z. Lin, et al.</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Year: </a:t>
            </a:r>
            <a:r>
              <a:rPr lang="en-US" sz="1150" dirty="0">
                <a:solidFill>
                  <a:srgbClr val="1A1A1A"/>
                </a:solidFill>
                <a:latin typeface="Calibri" pitchFamily="34" charset="0"/>
                <a:ea typeface="Calibri" pitchFamily="34" charset="-122"/>
                <a:cs typeface="Calibri" pitchFamily="34" charset="-120"/>
              </a:rPr>
              <a:t>2024</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Journal: </a:t>
            </a:r>
            <a:r>
              <a:rPr lang="en-US" sz="1150" dirty="0">
                <a:solidFill>
                  <a:srgbClr val="1A1A1A"/>
                </a:solidFill>
                <a:latin typeface="Calibri" pitchFamily="34" charset="0"/>
                <a:ea typeface="Calibri" pitchFamily="34" charset="-122"/>
                <a:cs typeface="Calibri" pitchFamily="34" charset="-120"/>
              </a:rPr>
              <a:t>Artificial Intelligence Review</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Publisher: </a:t>
            </a:r>
            <a:r>
              <a:rPr lang="en-US" sz="1150" dirty="0">
                <a:solidFill>
                  <a:srgbClr val="1A1A1A"/>
                </a:solidFill>
                <a:latin typeface="Calibri" pitchFamily="34" charset="0"/>
                <a:ea typeface="Calibri" pitchFamily="34" charset="-122"/>
                <a:cs typeface="Calibri" pitchFamily="34" charset="-120"/>
              </a:rPr>
              <a:t>Springer Nature</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Study Type: </a:t>
            </a:r>
            <a:r>
              <a:rPr lang="en-US" sz="1150" dirty="0">
                <a:solidFill>
                  <a:srgbClr val="1A1A1A"/>
                </a:solidFill>
                <a:latin typeface="Calibri" pitchFamily="34" charset="0"/>
                <a:ea typeface="Calibri" pitchFamily="34" charset="-122"/>
                <a:cs typeface="Calibri" pitchFamily="34" charset="-120"/>
              </a:rPr>
              <a:t>Review</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Hallucination Focus: </a:t>
            </a:r>
            <a:r>
              <a:rPr lang="en-US" sz="1150" dirty="0">
                <a:solidFill>
                  <a:srgbClr val="1A1A1A"/>
                </a:solidFill>
                <a:latin typeface="Calibri" pitchFamily="34" charset="0"/>
                <a:ea typeface="Calibri" pitchFamily="34" charset="-122"/>
                <a:cs typeface="Calibri" pitchFamily="34" charset="-120"/>
              </a:rPr>
              <a:t>Bias and hallucination taxonomy and mitigation</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Indexing: </a:t>
            </a:r>
            <a:r>
              <a:rPr lang="en-US" sz="1150" dirty="0">
                <a:solidFill>
                  <a:srgbClr val="1A1A1A"/>
                </a:solidFill>
                <a:latin typeface="Calibri" pitchFamily="34" charset="0"/>
                <a:ea typeface="Calibri" pitchFamily="34" charset="-122"/>
                <a:cs typeface="Calibri" pitchFamily="34" charset="-120"/>
              </a:rPr>
              <a:t>Yes, SCIE, Q1</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Source URL: </a:t>
            </a:r>
            <a:r>
              <a:rPr lang="en-US" sz="1150" dirty="0">
                <a:solidFill>
                  <a:srgbClr val="1A1A1A"/>
                </a:solidFill>
                <a:latin typeface="Calibri" pitchFamily="34" charset="0"/>
                <a:ea typeface="Calibri" pitchFamily="34" charset="-122"/>
                <a:cs typeface="Calibri" pitchFamily="34" charset="-120"/>
              </a:rPr>
              <a:t>https://link.springer.com/article/10.1007/s10462-024-10896-y</a:t>
            </a:r>
            <a:endParaRPr lang="en-US" sz="1150" dirty="0"/>
          </a:p>
        </p:txBody>
      </p:sp>
      <p:sp>
        <p:nvSpPr>
          <p:cNvPr id="5" name="Text 3"/>
          <p:cNvSpPr txBox="1"/>
          <p:nvPr/>
        </p:nvSpPr>
        <p:spPr>
          <a:xfrm>
            <a:off x="6172200" y="1463040"/>
            <a:ext cx="5440680" cy="5029200"/>
          </a:xfrm>
          <a:prstGeom prst="rect">
            <a:avLst/>
          </a:prstGeom>
          <a:noFill/>
          <a:ln/>
        </p:spPr>
        <p:txBody>
          <a:bodyPr wrap="square" lIns="0" tIns="0" rIns="0" bIns="0" rtlCol="0" anchor="t"/>
          <a:lstStyle/>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Method: </a:t>
            </a:r>
            <a:r>
              <a:rPr lang="en-US" sz="1150" dirty="0">
                <a:solidFill>
                  <a:srgbClr val="1A1A1A"/>
                </a:solidFill>
                <a:latin typeface="Calibri" pitchFamily="34" charset="0"/>
                <a:ea typeface="Calibri" pitchFamily="34" charset="-122"/>
                <a:cs typeface="Calibri" pitchFamily="34" charset="-120"/>
              </a:rPr>
              <a:t>Reviews causes, evaluation, debiasing, hallucination detection and mitigation strategies for trustworthy LLMs.</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Key Finding: </a:t>
            </a:r>
            <a:r>
              <a:rPr lang="en-US" sz="1150" dirty="0">
                <a:solidFill>
                  <a:srgbClr val="1A1A1A"/>
                </a:solidFill>
                <a:latin typeface="Calibri" pitchFamily="34" charset="0"/>
                <a:ea typeface="Calibri" pitchFamily="34" charset="-122"/>
                <a:cs typeface="Calibri" pitchFamily="34" charset="-120"/>
              </a:rPr>
              <a:t>Organizes a rapidly growing field and links trustworthiness dimensions rather than treating hallucination in isolation.</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Research Gap: </a:t>
            </a:r>
            <a:r>
              <a:rPr lang="en-US" sz="1150" dirty="0">
                <a:solidFill>
                  <a:srgbClr val="1A1A1A"/>
                </a:solidFill>
                <a:latin typeface="Calibri" pitchFamily="34" charset="0"/>
                <a:ea typeface="Calibri" pitchFamily="34" charset="-122"/>
                <a:cs typeface="Calibri" pitchFamily="34" charset="-120"/>
              </a:rPr>
              <a:t>Review-level synthesis with limited empirical head-to-head validation. Rapid model evolution makes static taxonomies and benchmarks quickly outdated.</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Significance: </a:t>
            </a:r>
            <a:r>
              <a:rPr lang="en-US" sz="1150" dirty="0">
                <a:solidFill>
                  <a:srgbClr val="1A1A1A"/>
                </a:solidFill>
                <a:latin typeface="Calibri" pitchFamily="34" charset="0"/>
                <a:ea typeface="Calibri" pitchFamily="34" charset="-122"/>
                <a:cs typeface="Calibri" pitchFamily="34" charset="-120"/>
              </a:rPr>
              <a:t>Good foundation for defining categories and positioning a new framework.</a:t>
            </a:r>
            <a:endParaRPr lang="en-US" sz="1150" dirty="0"/>
          </a:p>
        </p:txBody>
      </p:sp>
      <p:sp>
        <p:nvSpPr>
          <p:cNvPr id="6" name="Text 4"/>
          <p:cNvSpPr txBox="1"/>
          <p:nvPr/>
        </p:nvSpPr>
        <p:spPr>
          <a:xfrm>
            <a:off x="11338560" y="6400800"/>
            <a:ext cx="457200" cy="274320"/>
          </a:xfrm>
          <a:prstGeom prst="rect">
            <a:avLst/>
          </a:prstGeom>
          <a:noFill/>
          <a:ln/>
        </p:spPr>
        <p:txBody>
          <a:bodyPr wrap="square" lIns="0" tIns="0" rIns="0" bIns="0" rtlCol="0" anchor="ctr"/>
          <a:lstStyle/>
          <a:p>
            <a:pPr marL="0" indent="0" algn="r">
              <a:buNone/>
            </a:pPr>
            <a:r>
              <a:rPr lang="en-US" sz="1000" dirty="0">
                <a:solidFill>
                  <a:srgbClr val="555555"/>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1064240" cy="274320"/>
          </a:xfrm>
          <a:prstGeom prst="rect">
            <a:avLst/>
          </a:prstGeom>
          <a:noFill/>
          <a:ln/>
        </p:spPr>
        <p:txBody>
          <a:bodyPr wrap="square" lIns="0" tIns="0" rIns="0" bIns="0" rtlCol="0" anchor="ctr"/>
          <a:lstStyle/>
          <a:p>
            <a:pPr marL="0" indent="0">
              <a:buNone/>
            </a:pPr>
            <a:r>
              <a:rPr lang="en-US" sz="1200" dirty="0">
                <a:solidFill>
                  <a:srgbClr val="555555"/>
                </a:solidFill>
                <a:latin typeface="Calibri" pitchFamily="34" charset="0"/>
                <a:ea typeface="Calibri" pitchFamily="34" charset="-122"/>
                <a:cs typeface="Calibri" pitchFamily="34" charset="-120"/>
              </a:rPr>
              <a:t>Paper 5 of 20</a:t>
            </a:r>
            <a:endParaRPr lang="en-US" sz="1200" dirty="0"/>
          </a:p>
        </p:txBody>
      </p:sp>
      <p:sp>
        <p:nvSpPr>
          <p:cNvPr id="3" name="Text 1"/>
          <p:cNvSpPr txBox="1"/>
          <p:nvPr/>
        </p:nvSpPr>
        <p:spPr>
          <a:xfrm>
            <a:off x="548640" y="594360"/>
            <a:ext cx="11064240" cy="777240"/>
          </a:xfrm>
          <a:prstGeom prst="rect">
            <a:avLst/>
          </a:prstGeom>
          <a:noFill/>
          <a:ln/>
        </p:spPr>
        <p:txBody>
          <a:bodyPr wrap="square" lIns="0" tIns="0" rIns="0" bIns="0" rtlCol="0" anchor="t"/>
          <a:lstStyle/>
          <a:p>
            <a:pPr marL="0" indent="0">
              <a:buNone/>
            </a:pPr>
            <a:r>
              <a:rPr lang="en-US" sz="1900" b="1" dirty="0">
                <a:solidFill>
                  <a:srgbClr val="1A1A1A"/>
                </a:solidFill>
                <a:latin typeface="Calibri" pitchFamily="34" charset="0"/>
                <a:ea typeface="Calibri" pitchFamily="34" charset="-122"/>
                <a:cs typeface="Calibri" pitchFamily="34" charset="-120"/>
              </a:rPr>
              <a:t>A framework to assess clinical safety and hallucination rates of LLMs for medical text summarisation</a:t>
            </a:r>
            <a:endParaRPr lang="en-US" sz="1900" dirty="0"/>
          </a:p>
        </p:txBody>
      </p:sp>
      <p:sp>
        <p:nvSpPr>
          <p:cNvPr id="4" name="Text 2"/>
          <p:cNvSpPr txBox="1"/>
          <p:nvPr/>
        </p:nvSpPr>
        <p:spPr>
          <a:xfrm>
            <a:off x="548640" y="1463040"/>
            <a:ext cx="5394960" cy="5029200"/>
          </a:xfrm>
          <a:prstGeom prst="rect">
            <a:avLst/>
          </a:prstGeom>
          <a:noFill/>
          <a:ln/>
        </p:spPr>
        <p:txBody>
          <a:bodyPr wrap="square" lIns="0" tIns="0" rIns="0" bIns="0" rtlCol="0" anchor="t"/>
          <a:lstStyle/>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Authors: </a:t>
            </a:r>
            <a:r>
              <a:rPr lang="en-US" sz="1150" dirty="0">
                <a:solidFill>
                  <a:srgbClr val="1A1A1A"/>
                </a:solidFill>
                <a:latin typeface="Calibri" pitchFamily="34" charset="0"/>
                <a:ea typeface="Calibri" pitchFamily="34" charset="-122"/>
                <a:cs typeface="Calibri" pitchFamily="34" charset="-120"/>
              </a:rPr>
              <a:t>E. Asgari, et al.</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Year: </a:t>
            </a:r>
            <a:r>
              <a:rPr lang="en-US" sz="1150" dirty="0">
                <a:solidFill>
                  <a:srgbClr val="1A1A1A"/>
                </a:solidFill>
                <a:latin typeface="Calibri" pitchFamily="34" charset="0"/>
                <a:ea typeface="Calibri" pitchFamily="34" charset="-122"/>
                <a:cs typeface="Calibri" pitchFamily="34" charset="-120"/>
              </a:rPr>
              <a:t>2025</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Journal: </a:t>
            </a:r>
            <a:r>
              <a:rPr lang="en-US" sz="1150" dirty="0">
                <a:solidFill>
                  <a:srgbClr val="1A1A1A"/>
                </a:solidFill>
                <a:latin typeface="Calibri" pitchFamily="34" charset="0"/>
                <a:ea typeface="Calibri" pitchFamily="34" charset="-122"/>
                <a:cs typeface="Calibri" pitchFamily="34" charset="-120"/>
              </a:rPr>
              <a:t>npj Digital Medicine</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Publisher: </a:t>
            </a:r>
            <a:r>
              <a:rPr lang="en-US" sz="1150" dirty="0">
                <a:solidFill>
                  <a:srgbClr val="1A1A1A"/>
                </a:solidFill>
                <a:latin typeface="Calibri" pitchFamily="34" charset="0"/>
                <a:ea typeface="Calibri" pitchFamily="34" charset="-122"/>
                <a:cs typeface="Calibri" pitchFamily="34" charset="-120"/>
              </a:rPr>
              <a:t>Springer Nature</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Study Type: </a:t>
            </a:r>
            <a:r>
              <a:rPr lang="en-US" sz="1150" dirty="0">
                <a:solidFill>
                  <a:srgbClr val="1A1A1A"/>
                </a:solidFill>
                <a:latin typeface="Calibri" pitchFamily="34" charset="0"/>
                <a:ea typeface="Calibri" pitchFamily="34" charset="-122"/>
                <a:cs typeface="Calibri" pitchFamily="34" charset="-120"/>
              </a:rPr>
              <a:t>Clinical evaluation framework</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Hallucination Focus: </a:t>
            </a:r>
            <a:r>
              <a:rPr lang="en-US" sz="1150" dirty="0">
                <a:solidFill>
                  <a:srgbClr val="1A1A1A"/>
                </a:solidFill>
                <a:latin typeface="Calibri" pitchFamily="34" charset="0"/>
                <a:ea typeface="Calibri" pitchFamily="34" charset="-122"/>
                <a:cs typeface="Calibri" pitchFamily="34" charset="-120"/>
              </a:rPr>
              <a:t>Medical summarisation hallucination / omission</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Indexing: </a:t>
            </a:r>
            <a:r>
              <a:rPr lang="en-US" sz="1150" dirty="0">
                <a:solidFill>
                  <a:srgbClr val="1A1A1A"/>
                </a:solidFill>
                <a:latin typeface="Calibri" pitchFamily="34" charset="0"/>
                <a:ea typeface="Calibri" pitchFamily="34" charset="-122"/>
                <a:cs typeface="Calibri" pitchFamily="34" charset="-120"/>
              </a:rPr>
              <a:t>Yes, SCIE, Q1</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Source URL: </a:t>
            </a:r>
            <a:r>
              <a:rPr lang="en-US" sz="1150" dirty="0">
                <a:solidFill>
                  <a:srgbClr val="1A1A1A"/>
                </a:solidFill>
                <a:latin typeface="Calibri" pitchFamily="34" charset="0"/>
                <a:ea typeface="Calibri" pitchFamily="34" charset="-122"/>
                <a:cs typeface="Calibri" pitchFamily="34" charset="-120"/>
              </a:rPr>
              <a:t>https://www.nature.com/articles/s41746-025-01670-7</a:t>
            </a:r>
            <a:endParaRPr lang="en-US" sz="1150" dirty="0"/>
          </a:p>
        </p:txBody>
      </p:sp>
      <p:sp>
        <p:nvSpPr>
          <p:cNvPr id="5" name="Text 3"/>
          <p:cNvSpPr txBox="1"/>
          <p:nvPr/>
        </p:nvSpPr>
        <p:spPr>
          <a:xfrm>
            <a:off x="6172200" y="1463040"/>
            <a:ext cx="5440680" cy="5029200"/>
          </a:xfrm>
          <a:prstGeom prst="rect">
            <a:avLst/>
          </a:prstGeom>
          <a:noFill/>
          <a:ln/>
        </p:spPr>
        <p:txBody>
          <a:bodyPr wrap="square" lIns="0" tIns="0" rIns="0" bIns="0" rtlCol="0" anchor="t"/>
          <a:lstStyle/>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Method: </a:t>
            </a:r>
            <a:r>
              <a:rPr lang="en-US" sz="1150" dirty="0">
                <a:solidFill>
                  <a:srgbClr val="1A1A1A"/>
                </a:solidFill>
                <a:latin typeface="Calibri" pitchFamily="34" charset="0"/>
                <a:ea typeface="Calibri" pitchFamily="34" charset="-122"/>
                <a:cs typeface="Calibri" pitchFamily="34" charset="-120"/>
              </a:rPr>
              <a:t>Develops a framework to quantify hallucinations, omissions and clinically important safety errors in generated medical summaries.</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Key Finding: </a:t>
            </a:r>
            <a:r>
              <a:rPr lang="en-US" sz="1150" dirty="0">
                <a:solidFill>
                  <a:srgbClr val="1A1A1A"/>
                </a:solidFill>
                <a:latin typeface="Calibri" pitchFamily="34" charset="0"/>
                <a:ea typeface="Calibri" pitchFamily="34" charset="-122"/>
                <a:cs typeface="Calibri" pitchFamily="34" charset="-120"/>
              </a:rPr>
              <a:t>Conventional text-similarity metrics are insufficient for clinical safety; clinically weighted evaluation is necessary.</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Research Gap: </a:t>
            </a:r>
            <a:r>
              <a:rPr lang="en-US" sz="1150" dirty="0">
                <a:solidFill>
                  <a:srgbClr val="1A1A1A"/>
                </a:solidFill>
                <a:latin typeface="Calibri" pitchFamily="34" charset="0"/>
                <a:ea typeface="Calibri" pitchFamily="34" charset="-122"/>
                <a:cs typeface="Calibri" pitchFamily="34" charset="-120"/>
              </a:rPr>
              <a:t>Domain- and task-specific; needs expert annotation and may not transfer to open-domain, reasoning, RAG or agentic settings. Automated severity-aware verification is underdeveloped.</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Significance: </a:t>
            </a:r>
            <a:r>
              <a:rPr lang="en-US" sz="1150" dirty="0">
                <a:solidFill>
                  <a:srgbClr val="1A1A1A"/>
                </a:solidFill>
                <a:latin typeface="Calibri" pitchFamily="34" charset="0"/>
                <a:ea typeface="Calibri" pitchFamily="34" charset="-122"/>
                <a:cs typeface="Calibri" pitchFamily="34" charset="-120"/>
              </a:rPr>
              <a:t>Strong model for severity-weighted hallucination evaluation in high-stakes domains.</a:t>
            </a:r>
            <a:endParaRPr lang="en-US" sz="1150" dirty="0"/>
          </a:p>
        </p:txBody>
      </p:sp>
      <p:sp>
        <p:nvSpPr>
          <p:cNvPr id="6" name="Text 4"/>
          <p:cNvSpPr txBox="1"/>
          <p:nvPr/>
        </p:nvSpPr>
        <p:spPr>
          <a:xfrm>
            <a:off x="11338560" y="6400800"/>
            <a:ext cx="457200" cy="274320"/>
          </a:xfrm>
          <a:prstGeom prst="rect">
            <a:avLst/>
          </a:prstGeom>
          <a:noFill/>
          <a:ln/>
        </p:spPr>
        <p:txBody>
          <a:bodyPr wrap="square" lIns="0" tIns="0" rIns="0" bIns="0" rtlCol="0" anchor="ctr"/>
          <a:lstStyle/>
          <a:p>
            <a:pPr marL="0" indent="0" algn="r">
              <a:buNone/>
            </a:pPr>
            <a:r>
              <a:rPr lang="en-US" sz="1000" dirty="0">
                <a:solidFill>
                  <a:srgbClr val="555555"/>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64240" cy="274320"/>
          </a:xfrm>
          <a:prstGeom prst="rect">
            <a:avLst/>
          </a:prstGeom>
          <a:noFill/>
          <a:ln/>
        </p:spPr>
        <p:txBody>
          <a:bodyPr wrap="square" lIns="0" tIns="0" rIns="0" bIns="0" rtlCol="0" anchor="ctr"/>
          <a:lstStyle/>
          <a:p>
            <a:pPr marL="0" indent="0">
              <a:buNone/>
            </a:pPr>
            <a:r>
              <a:rPr lang="en-US" sz="1200" dirty="0">
                <a:solidFill>
                  <a:srgbClr val="555555"/>
                </a:solidFill>
                <a:latin typeface="Calibri" pitchFamily="34" charset="0"/>
                <a:ea typeface="Calibri" pitchFamily="34" charset="-122"/>
                <a:cs typeface="Calibri" pitchFamily="34" charset="-120"/>
              </a:rPr>
              <a:t>Paper 6 of 20</a:t>
            </a:r>
            <a:endParaRPr lang="en-US" sz="1200" dirty="0"/>
          </a:p>
        </p:txBody>
      </p:sp>
      <p:sp>
        <p:nvSpPr>
          <p:cNvPr id="3" name="Text 1"/>
          <p:cNvSpPr txBox="1"/>
          <p:nvPr/>
        </p:nvSpPr>
        <p:spPr>
          <a:xfrm>
            <a:off x="548640" y="594360"/>
            <a:ext cx="11064240" cy="777240"/>
          </a:xfrm>
          <a:prstGeom prst="rect">
            <a:avLst/>
          </a:prstGeom>
          <a:noFill/>
          <a:ln/>
        </p:spPr>
        <p:txBody>
          <a:bodyPr wrap="square" lIns="0" tIns="0" rIns="0" bIns="0" rtlCol="0" anchor="t"/>
          <a:lstStyle/>
          <a:p>
            <a:pPr marL="0" indent="0">
              <a:buNone/>
            </a:pPr>
            <a:r>
              <a:rPr lang="en-US" sz="1900" b="1" dirty="0">
                <a:solidFill>
                  <a:srgbClr val="1A1A1A"/>
                </a:solidFill>
                <a:latin typeface="Calibri" pitchFamily="34" charset="0"/>
                <a:ea typeface="Calibri" pitchFamily="34" charset="-122"/>
                <a:cs typeface="Calibri" pitchFamily="34" charset="-120"/>
              </a:rPr>
              <a:t>A hallucination detection and mitigation framework for large language model-based text summarization</a:t>
            </a:r>
            <a:endParaRPr lang="en-US" sz="1900" dirty="0"/>
          </a:p>
        </p:txBody>
      </p:sp>
      <p:sp>
        <p:nvSpPr>
          <p:cNvPr id="4" name="Text 2"/>
          <p:cNvSpPr txBox="1"/>
          <p:nvPr/>
        </p:nvSpPr>
        <p:spPr>
          <a:xfrm>
            <a:off x="548640" y="1463040"/>
            <a:ext cx="5394960" cy="5029200"/>
          </a:xfrm>
          <a:prstGeom prst="rect">
            <a:avLst/>
          </a:prstGeom>
          <a:noFill/>
          <a:ln/>
        </p:spPr>
        <p:txBody>
          <a:bodyPr wrap="square" lIns="0" tIns="0" rIns="0" bIns="0" rtlCol="0" anchor="t"/>
          <a:lstStyle/>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Authors: </a:t>
            </a:r>
            <a:r>
              <a:rPr lang="en-US" sz="1150" dirty="0">
                <a:solidFill>
                  <a:srgbClr val="1A1A1A"/>
                </a:solidFill>
                <a:latin typeface="Calibri" pitchFamily="34" charset="0"/>
                <a:ea typeface="Calibri" pitchFamily="34" charset="-122"/>
                <a:cs typeface="Calibri" pitchFamily="34" charset="-120"/>
              </a:rPr>
              <a:t>S. Liu, et al.</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Year: </a:t>
            </a:r>
            <a:r>
              <a:rPr lang="en-US" sz="1150" dirty="0">
                <a:solidFill>
                  <a:srgbClr val="1A1A1A"/>
                </a:solidFill>
                <a:latin typeface="Calibri" pitchFamily="34" charset="0"/>
                <a:ea typeface="Calibri" pitchFamily="34" charset="-122"/>
                <a:cs typeface="Calibri" pitchFamily="34" charset="-120"/>
              </a:rPr>
              <a:t>2025</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Journal: </a:t>
            </a:r>
            <a:r>
              <a:rPr lang="en-US" sz="1150" dirty="0">
                <a:solidFill>
                  <a:srgbClr val="1A1A1A"/>
                </a:solidFill>
                <a:latin typeface="Calibri" pitchFamily="34" charset="0"/>
                <a:ea typeface="Calibri" pitchFamily="34" charset="-122"/>
                <a:cs typeface="Calibri" pitchFamily="34" charset="-120"/>
              </a:rPr>
              <a:t>Scientific Reports</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Publisher: </a:t>
            </a:r>
            <a:r>
              <a:rPr lang="en-US" sz="1150" dirty="0">
                <a:solidFill>
                  <a:srgbClr val="1A1A1A"/>
                </a:solidFill>
                <a:latin typeface="Calibri" pitchFamily="34" charset="0"/>
                <a:ea typeface="Calibri" pitchFamily="34" charset="-122"/>
                <a:cs typeface="Calibri" pitchFamily="34" charset="-120"/>
              </a:rPr>
              <a:t>Springer Nature</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Study Type: </a:t>
            </a:r>
            <a:r>
              <a:rPr lang="en-US" sz="1150" dirty="0">
                <a:solidFill>
                  <a:srgbClr val="1A1A1A"/>
                </a:solidFill>
                <a:latin typeface="Calibri" pitchFamily="34" charset="0"/>
                <a:ea typeface="Calibri" pitchFamily="34" charset="-122"/>
                <a:cs typeface="Calibri" pitchFamily="34" charset="-120"/>
              </a:rPr>
              <a:t>Detection + mitigation</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Hallucination Focus: </a:t>
            </a:r>
            <a:r>
              <a:rPr lang="en-US" sz="1150" dirty="0">
                <a:solidFill>
                  <a:srgbClr val="1A1A1A"/>
                </a:solidFill>
                <a:latin typeface="Calibri" pitchFamily="34" charset="0"/>
                <a:ea typeface="Calibri" pitchFamily="34" charset="-122"/>
                <a:cs typeface="Calibri" pitchFamily="34" charset="-120"/>
              </a:rPr>
              <a:t>Text summarisation factuality</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Indexing: </a:t>
            </a:r>
            <a:r>
              <a:rPr lang="en-US" sz="1150" dirty="0">
                <a:solidFill>
                  <a:srgbClr val="1A1A1A"/>
                </a:solidFill>
                <a:latin typeface="Calibri" pitchFamily="34" charset="0"/>
                <a:ea typeface="Calibri" pitchFamily="34" charset="-122"/>
                <a:cs typeface="Calibri" pitchFamily="34" charset="-120"/>
              </a:rPr>
              <a:t>Yes, SCIE, Q1</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Source URL: </a:t>
            </a:r>
            <a:r>
              <a:rPr lang="en-US" sz="1150" dirty="0">
                <a:solidFill>
                  <a:srgbClr val="1A1A1A"/>
                </a:solidFill>
                <a:latin typeface="Calibri" pitchFamily="34" charset="0"/>
                <a:ea typeface="Calibri" pitchFamily="34" charset="-122"/>
                <a:cs typeface="Calibri" pitchFamily="34" charset="-120"/>
              </a:rPr>
              <a:t>https://www.nature.com/articles/s41598-025-31075-1</a:t>
            </a:r>
            <a:endParaRPr lang="en-US" sz="1150" dirty="0"/>
          </a:p>
        </p:txBody>
      </p:sp>
      <p:sp>
        <p:nvSpPr>
          <p:cNvPr id="5" name="Text 3"/>
          <p:cNvSpPr txBox="1"/>
          <p:nvPr/>
        </p:nvSpPr>
        <p:spPr>
          <a:xfrm>
            <a:off x="6172200" y="1463040"/>
            <a:ext cx="5440680" cy="5029200"/>
          </a:xfrm>
          <a:prstGeom prst="rect">
            <a:avLst/>
          </a:prstGeom>
          <a:noFill/>
          <a:ln/>
        </p:spPr>
        <p:txBody>
          <a:bodyPr wrap="square" lIns="0" tIns="0" rIns="0" bIns="0" rtlCol="0" anchor="t"/>
          <a:lstStyle/>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Method: </a:t>
            </a:r>
            <a:r>
              <a:rPr lang="en-US" sz="1150" dirty="0">
                <a:solidFill>
                  <a:srgbClr val="1A1A1A"/>
                </a:solidFill>
                <a:latin typeface="Calibri" pitchFamily="34" charset="0"/>
                <a:ea typeface="Calibri" pitchFamily="34" charset="-122"/>
                <a:cs typeface="Calibri" pitchFamily="34" charset="-120"/>
              </a:rPr>
              <a:t>Combines an LLM-based hallucination detector with iterative modification to revise hallucinated summaries across benchmark datasets.</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Key Finding: </a:t>
            </a:r>
            <a:r>
              <a:rPr lang="en-US" sz="1150" dirty="0">
                <a:solidFill>
                  <a:srgbClr val="1A1A1A"/>
                </a:solidFill>
                <a:latin typeface="Calibri" pitchFamily="34" charset="0"/>
                <a:ea typeface="Calibri" pitchFamily="34" charset="-122"/>
                <a:cs typeface="Calibri" pitchFamily="34" charset="-120"/>
              </a:rPr>
              <a:t>Iterative detect-and-revise improves factual consistency over single-pass generation.</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Research Gap: </a:t>
            </a:r>
            <a:r>
              <a:rPr lang="en-US" sz="1150" dirty="0">
                <a:solidFill>
                  <a:srgbClr val="1A1A1A"/>
                </a:solidFill>
                <a:latin typeface="Calibri" pitchFamily="34" charset="0"/>
                <a:ea typeface="Calibri" pitchFamily="34" charset="-122"/>
                <a:cs typeface="Calibri" pitchFamily="34" charset="-120"/>
              </a:rPr>
              <a:t>Still relies on LLM judgement, which can itself hallucinate; lacks formal evidence matching and broad cross-domain, long-context, multilingual testing.</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Significance: </a:t>
            </a:r>
            <a:r>
              <a:rPr lang="en-US" sz="1150" dirty="0">
                <a:solidFill>
                  <a:srgbClr val="1A1A1A"/>
                </a:solidFill>
                <a:latin typeface="Calibri" pitchFamily="34" charset="0"/>
                <a:ea typeface="Calibri" pitchFamily="34" charset="-122"/>
                <a:cs typeface="Calibri" pitchFamily="34" charset="-120"/>
              </a:rPr>
              <a:t>Directly motivates a closed-loop detector, repair and independent verification architecture.</a:t>
            </a:r>
            <a:endParaRPr lang="en-US" sz="1150" dirty="0"/>
          </a:p>
        </p:txBody>
      </p:sp>
      <p:sp>
        <p:nvSpPr>
          <p:cNvPr id="6" name="Text 4"/>
          <p:cNvSpPr txBox="1"/>
          <p:nvPr/>
        </p:nvSpPr>
        <p:spPr>
          <a:xfrm>
            <a:off x="11338560" y="6400800"/>
            <a:ext cx="457200" cy="274320"/>
          </a:xfrm>
          <a:prstGeom prst="rect">
            <a:avLst/>
          </a:prstGeom>
          <a:noFill/>
          <a:ln/>
        </p:spPr>
        <p:txBody>
          <a:bodyPr wrap="square" lIns="0" tIns="0" rIns="0" bIns="0" rtlCol="0" anchor="ctr"/>
          <a:lstStyle/>
          <a:p>
            <a:pPr marL="0" indent="0" algn="r">
              <a:buNone/>
            </a:pPr>
            <a:r>
              <a:rPr lang="en-US" sz="1000" dirty="0">
                <a:solidFill>
                  <a:srgbClr val="555555"/>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64240" cy="274320"/>
          </a:xfrm>
          <a:prstGeom prst="rect">
            <a:avLst/>
          </a:prstGeom>
          <a:noFill/>
          <a:ln/>
        </p:spPr>
        <p:txBody>
          <a:bodyPr wrap="square" lIns="0" tIns="0" rIns="0" bIns="0" rtlCol="0" anchor="ctr"/>
          <a:lstStyle/>
          <a:p>
            <a:pPr marL="0" indent="0">
              <a:buNone/>
            </a:pPr>
            <a:r>
              <a:rPr lang="en-US" sz="1200" dirty="0">
                <a:solidFill>
                  <a:srgbClr val="555555"/>
                </a:solidFill>
                <a:latin typeface="Calibri" pitchFamily="34" charset="0"/>
                <a:ea typeface="Calibri" pitchFamily="34" charset="-122"/>
                <a:cs typeface="Calibri" pitchFamily="34" charset="-120"/>
              </a:rPr>
              <a:t>Paper 7 of 20</a:t>
            </a:r>
            <a:endParaRPr lang="en-US" sz="1200" dirty="0"/>
          </a:p>
        </p:txBody>
      </p:sp>
      <p:sp>
        <p:nvSpPr>
          <p:cNvPr id="3" name="Text 1"/>
          <p:cNvSpPr txBox="1"/>
          <p:nvPr/>
        </p:nvSpPr>
        <p:spPr>
          <a:xfrm>
            <a:off x="548640" y="594360"/>
            <a:ext cx="11064240" cy="777240"/>
          </a:xfrm>
          <a:prstGeom prst="rect">
            <a:avLst/>
          </a:prstGeom>
          <a:noFill/>
          <a:ln/>
        </p:spPr>
        <p:txBody>
          <a:bodyPr wrap="square" lIns="0" tIns="0" rIns="0" bIns="0" rtlCol="0" anchor="t"/>
          <a:lstStyle/>
          <a:p>
            <a:pPr marL="0" indent="0">
              <a:buNone/>
            </a:pPr>
            <a:r>
              <a:rPr lang="en-US" sz="1900" b="1" dirty="0">
                <a:solidFill>
                  <a:srgbClr val="1A1A1A"/>
                </a:solidFill>
                <a:latin typeface="Calibri" pitchFamily="34" charset="0"/>
                <a:ea typeface="Calibri" pitchFamily="34" charset="-122"/>
                <a:cs typeface="Calibri" pitchFamily="34" charset="-120"/>
              </a:rPr>
              <a:t>Mitigating spatial hallucination in large language models via graph-based reasoning and value-guided planning</a:t>
            </a:r>
            <a:endParaRPr lang="en-US" sz="1900" dirty="0"/>
          </a:p>
        </p:txBody>
      </p:sp>
      <p:sp>
        <p:nvSpPr>
          <p:cNvPr id="4" name="Text 2"/>
          <p:cNvSpPr txBox="1"/>
          <p:nvPr/>
        </p:nvSpPr>
        <p:spPr>
          <a:xfrm>
            <a:off x="548640" y="1463040"/>
            <a:ext cx="5394960" cy="5029200"/>
          </a:xfrm>
          <a:prstGeom prst="rect">
            <a:avLst/>
          </a:prstGeom>
          <a:noFill/>
          <a:ln/>
        </p:spPr>
        <p:txBody>
          <a:bodyPr wrap="square" lIns="0" tIns="0" rIns="0" bIns="0" rtlCol="0" anchor="t"/>
          <a:lstStyle/>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Authors: </a:t>
            </a:r>
            <a:r>
              <a:rPr lang="en-US" sz="1150" dirty="0">
                <a:solidFill>
                  <a:srgbClr val="1A1A1A"/>
                </a:solidFill>
                <a:latin typeface="Calibri" pitchFamily="34" charset="0"/>
                <a:ea typeface="Calibri" pitchFamily="34" charset="-122"/>
                <a:cs typeface="Calibri" pitchFamily="34" charset="-120"/>
              </a:rPr>
              <a:t>H. Zhang, et al.</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Year: </a:t>
            </a:r>
            <a:r>
              <a:rPr lang="en-US" sz="1150" dirty="0">
                <a:solidFill>
                  <a:srgbClr val="1A1A1A"/>
                </a:solidFill>
                <a:latin typeface="Calibri" pitchFamily="34" charset="0"/>
                <a:ea typeface="Calibri" pitchFamily="34" charset="-122"/>
                <a:cs typeface="Calibri" pitchFamily="34" charset="-120"/>
              </a:rPr>
              <a:t>2025</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Journal: </a:t>
            </a:r>
            <a:r>
              <a:rPr lang="en-US" sz="1150" dirty="0">
                <a:solidFill>
                  <a:srgbClr val="1A1A1A"/>
                </a:solidFill>
                <a:latin typeface="Calibri" pitchFamily="34" charset="0"/>
                <a:ea typeface="Calibri" pitchFamily="34" charset="-122"/>
                <a:cs typeface="Calibri" pitchFamily="34" charset="-120"/>
              </a:rPr>
              <a:t>Scientific Reports</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Publisher: </a:t>
            </a:r>
            <a:r>
              <a:rPr lang="en-US" sz="1150" dirty="0">
                <a:solidFill>
                  <a:srgbClr val="1A1A1A"/>
                </a:solidFill>
                <a:latin typeface="Calibri" pitchFamily="34" charset="0"/>
                <a:ea typeface="Calibri" pitchFamily="34" charset="-122"/>
                <a:cs typeface="Calibri" pitchFamily="34" charset="-120"/>
              </a:rPr>
              <a:t>Springer Nature</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Study Type: </a:t>
            </a:r>
            <a:r>
              <a:rPr lang="en-US" sz="1150" dirty="0">
                <a:solidFill>
                  <a:srgbClr val="1A1A1A"/>
                </a:solidFill>
                <a:latin typeface="Calibri" pitchFamily="34" charset="0"/>
                <a:ea typeface="Calibri" pitchFamily="34" charset="-122"/>
                <a:cs typeface="Calibri" pitchFamily="34" charset="-120"/>
              </a:rPr>
              <a:t>Reasoning mitigation</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Hallucination Focus: </a:t>
            </a:r>
            <a:r>
              <a:rPr lang="en-US" sz="1150" dirty="0">
                <a:solidFill>
                  <a:srgbClr val="1A1A1A"/>
                </a:solidFill>
                <a:latin typeface="Calibri" pitchFamily="34" charset="0"/>
                <a:ea typeface="Calibri" pitchFamily="34" charset="-122"/>
                <a:cs typeface="Calibri" pitchFamily="34" charset="-120"/>
              </a:rPr>
              <a:t>Spatial / long-horizon reasoning hallucination</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Indexing: </a:t>
            </a:r>
            <a:r>
              <a:rPr lang="en-US" sz="1150" dirty="0">
                <a:solidFill>
                  <a:srgbClr val="1A1A1A"/>
                </a:solidFill>
                <a:latin typeface="Calibri" pitchFamily="34" charset="0"/>
                <a:ea typeface="Calibri" pitchFamily="34" charset="-122"/>
                <a:cs typeface="Calibri" pitchFamily="34" charset="-120"/>
              </a:rPr>
              <a:t>Yes, SCIE, Q1</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Source URL: </a:t>
            </a:r>
            <a:r>
              <a:rPr lang="en-US" sz="1150" dirty="0">
                <a:solidFill>
                  <a:srgbClr val="1A1A1A"/>
                </a:solidFill>
                <a:latin typeface="Calibri" pitchFamily="34" charset="0"/>
                <a:ea typeface="Calibri" pitchFamily="34" charset="-122"/>
                <a:cs typeface="Calibri" pitchFamily="34" charset="-120"/>
              </a:rPr>
              <a:t>https://www.nature.com/articles/s41598-025-93601-5</a:t>
            </a:r>
            <a:endParaRPr lang="en-US" sz="1150" dirty="0"/>
          </a:p>
        </p:txBody>
      </p:sp>
      <p:sp>
        <p:nvSpPr>
          <p:cNvPr id="5" name="Text 3"/>
          <p:cNvSpPr txBox="1"/>
          <p:nvPr/>
        </p:nvSpPr>
        <p:spPr>
          <a:xfrm>
            <a:off x="6172200" y="1463040"/>
            <a:ext cx="5440680" cy="5029200"/>
          </a:xfrm>
          <a:prstGeom prst="rect">
            <a:avLst/>
          </a:prstGeom>
          <a:noFill/>
          <a:ln/>
        </p:spPr>
        <p:txBody>
          <a:bodyPr wrap="square" lIns="0" tIns="0" rIns="0" bIns="0" rtlCol="0" anchor="t"/>
          <a:lstStyle/>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Method: </a:t>
            </a:r>
            <a:r>
              <a:rPr lang="en-US" sz="1150" dirty="0">
                <a:solidFill>
                  <a:srgbClr val="1A1A1A"/>
                </a:solidFill>
                <a:latin typeface="Calibri" pitchFamily="34" charset="0"/>
                <a:ea typeface="Calibri" pitchFamily="34" charset="-122"/>
                <a:cs typeface="Calibri" pitchFamily="34" charset="-120"/>
              </a:rPr>
              <a:t>Extracts graph structure from textual spatial problems and introduces value-guided reasoning to reduce inconsistent planning and dead-end errors.</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Key Finding: </a:t>
            </a:r>
            <a:r>
              <a:rPr lang="en-US" sz="1150" dirty="0">
                <a:solidFill>
                  <a:srgbClr val="1A1A1A"/>
                </a:solidFill>
                <a:latin typeface="Calibri" pitchFamily="34" charset="0"/>
                <a:ea typeface="Calibri" pitchFamily="34" charset="-122"/>
                <a:cs typeface="Calibri" pitchFamily="34" charset="-120"/>
              </a:rPr>
              <a:t>Structured representations improve spatial reasoning reliability compared with unstructured prompting.</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Research Gap: </a:t>
            </a:r>
            <a:r>
              <a:rPr lang="en-US" sz="1150" dirty="0">
                <a:solidFill>
                  <a:srgbClr val="1A1A1A"/>
                </a:solidFill>
                <a:latin typeface="Calibri" pitchFamily="34" charset="0"/>
                <a:ea typeface="Calibri" pitchFamily="34" charset="-122"/>
                <a:cs typeface="Calibri" pitchFamily="34" charset="-120"/>
              </a:rPr>
              <a:t>Limited to structured spatial tasks; unclear transfer to factual hallucination, open-domain QA, code and noisy real-world inputs. Depends on correct graph extraction.</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Significance: </a:t>
            </a:r>
            <a:r>
              <a:rPr lang="en-US" sz="1150" dirty="0">
                <a:solidFill>
                  <a:srgbClr val="1A1A1A"/>
                </a:solidFill>
                <a:latin typeface="Calibri" pitchFamily="34" charset="0"/>
                <a:ea typeface="Calibri" pitchFamily="34" charset="-122"/>
                <a:cs typeface="Calibri" pitchFamily="34" charset="-120"/>
              </a:rPr>
              <a:t>Supports graph-grounded approaches to hallucination reduction.</a:t>
            </a:r>
            <a:endParaRPr lang="en-US" sz="1150" dirty="0"/>
          </a:p>
        </p:txBody>
      </p:sp>
      <p:sp>
        <p:nvSpPr>
          <p:cNvPr id="6" name="Text 4"/>
          <p:cNvSpPr txBox="1"/>
          <p:nvPr/>
        </p:nvSpPr>
        <p:spPr>
          <a:xfrm>
            <a:off x="11338560" y="6400800"/>
            <a:ext cx="457200" cy="274320"/>
          </a:xfrm>
          <a:prstGeom prst="rect">
            <a:avLst/>
          </a:prstGeom>
          <a:noFill/>
          <a:ln/>
        </p:spPr>
        <p:txBody>
          <a:bodyPr wrap="square" lIns="0" tIns="0" rIns="0" bIns="0" rtlCol="0" anchor="ctr"/>
          <a:lstStyle/>
          <a:p>
            <a:pPr marL="0" indent="0" algn="r">
              <a:buNone/>
            </a:pPr>
            <a:r>
              <a:rPr lang="en-US" sz="1000" dirty="0">
                <a:solidFill>
                  <a:srgbClr val="555555"/>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64240" cy="274320"/>
          </a:xfrm>
          <a:prstGeom prst="rect">
            <a:avLst/>
          </a:prstGeom>
          <a:noFill/>
          <a:ln/>
        </p:spPr>
        <p:txBody>
          <a:bodyPr wrap="square" lIns="0" tIns="0" rIns="0" bIns="0" rtlCol="0" anchor="ctr"/>
          <a:lstStyle/>
          <a:p>
            <a:pPr marL="0" indent="0">
              <a:buNone/>
            </a:pPr>
            <a:r>
              <a:rPr lang="en-US" sz="1200" dirty="0">
                <a:solidFill>
                  <a:srgbClr val="555555"/>
                </a:solidFill>
                <a:latin typeface="Calibri" pitchFamily="34" charset="0"/>
                <a:ea typeface="Calibri" pitchFamily="34" charset="-122"/>
                <a:cs typeface="Calibri" pitchFamily="34" charset="-120"/>
              </a:rPr>
              <a:t>Paper 8 of 20</a:t>
            </a:r>
            <a:endParaRPr lang="en-US" sz="1200" dirty="0"/>
          </a:p>
        </p:txBody>
      </p:sp>
      <p:sp>
        <p:nvSpPr>
          <p:cNvPr id="3" name="Text 1"/>
          <p:cNvSpPr txBox="1"/>
          <p:nvPr/>
        </p:nvSpPr>
        <p:spPr>
          <a:xfrm>
            <a:off x="548640" y="594360"/>
            <a:ext cx="11064240" cy="777240"/>
          </a:xfrm>
          <a:prstGeom prst="rect">
            <a:avLst/>
          </a:prstGeom>
          <a:noFill/>
          <a:ln/>
        </p:spPr>
        <p:txBody>
          <a:bodyPr wrap="square" lIns="0" tIns="0" rIns="0" bIns="0" rtlCol="0" anchor="t"/>
          <a:lstStyle/>
          <a:p>
            <a:pPr marL="0" indent="0">
              <a:buNone/>
            </a:pPr>
            <a:r>
              <a:rPr lang="en-US" sz="1900" b="1" dirty="0">
                <a:solidFill>
                  <a:srgbClr val="1A1A1A"/>
                </a:solidFill>
                <a:latin typeface="Calibri" pitchFamily="34" charset="0"/>
                <a:ea typeface="Calibri" pitchFamily="34" charset="-122"/>
                <a:cs typeface="Calibri" pitchFamily="34" charset="-120"/>
              </a:rPr>
              <a:t>User-reported LLM hallucinations in AI mobile apps reviews</a:t>
            </a:r>
            <a:endParaRPr lang="en-US" sz="1900" dirty="0"/>
          </a:p>
        </p:txBody>
      </p:sp>
      <p:sp>
        <p:nvSpPr>
          <p:cNvPr id="4" name="Text 2"/>
          <p:cNvSpPr txBox="1"/>
          <p:nvPr/>
        </p:nvSpPr>
        <p:spPr>
          <a:xfrm>
            <a:off x="548640" y="1463040"/>
            <a:ext cx="5394960" cy="5029200"/>
          </a:xfrm>
          <a:prstGeom prst="rect">
            <a:avLst/>
          </a:prstGeom>
          <a:noFill/>
          <a:ln/>
        </p:spPr>
        <p:txBody>
          <a:bodyPr wrap="square" lIns="0" tIns="0" rIns="0" bIns="0" rtlCol="0" anchor="t"/>
          <a:lstStyle/>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Authors: </a:t>
            </a:r>
            <a:r>
              <a:rPr lang="en-US" sz="1150" dirty="0">
                <a:solidFill>
                  <a:srgbClr val="1A1A1A"/>
                </a:solidFill>
                <a:latin typeface="Calibri" pitchFamily="34" charset="0"/>
                <a:ea typeface="Calibri" pitchFamily="34" charset="-122"/>
                <a:cs typeface="Calibri" pitchFamily="34" charset="-120"/>
              </a:rPr>
              <a:t>R. Massenon, et al.</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Year: </a:t>
            </a:r>
            <a:r>
              <a:rPr lang="en-US" sz="1150" dirty="0">
                <a:solidFill>
                  <a:srgbClr val="1A1A1A"/>
                </a:solidFill>
                <a:latin typeface="Calibri" pitchFamily="34" charset="0"/>
                <a:ea typeface="Calibri" pitchFamily="34" charset="-122"/>
                <a:cs typeface="Calibri" pitchFamily="34" charset="-120"/>
              </a:rPr>
              <a:t>2025</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Journal: </a:t>
            </a:r>
            <a:r>
              <a:rPr lang="en-US" sz="1150" dirty="0">
                <a:solidFill>
                  <a:srgbClr val="1A1A1A"/>
                </a:solidFill>
                <a:latin typeface="Calibri" pitchFamily="34" charset="0"/>
                <a:ea typeface="Calibri" pitchFamily="34" charset="-122"/>
                <a:cs typeface="Calibri" pitchFamily="34" charset="-120"/>
              </a:rPr>
              <a:t>Scientific Reports</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Publisher: </a:t>
            </a:r>
            <a:r>
              <a:rPr lang="en-US" sz="1150" dirty="0">
                <a:solidFill>
                  <a:srgbClr val="1A1A1A"/>
                </a:solidFill>
                <a:latin typeface="Calibri" pitchFamily="34" charset="0"/>
                <a:ea typeface="Calibri" pitchFamily="34" charset="-122"/>
                <a:cs typeface="Calibri" pitchFamily="34" charset="-120"/>
              </a:rPr>
              <a:t>Springer Nature</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Study Type: </a:t>
            </a:r>
            <a:r>
              <a:rPr lang="en-US" sz="1150" dirty="0">
                <a:solidFill>
                  <a:srgbClr val="1A1A1A"/>
                </a:solidFill>
                <a:latin typeface="Calibri" pitchFamily="34" charset="0"/>
                <a:ea typeface="Calibri" pitchFamily="34" charset="-122"/>
                <a:cs typeface="Calibri" pitchFamily="34" charset="-120"/>
              </a:rPr>
              <a:t>Real-world observational study</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Hallucination Focus: </a:t>
            </a:r>
            <a:r>
              <a:rPr lang="en-US" sz="1150" dirty="0">
                <a:solidFill>
                  <a:srgbClr val="1A1A1A"/>
                </a:solidFill>
                <a:latin typeface="Calibri" pitchFamily="34" charset="0"/>
                <a:ea typeface="Calibri" pitchFamily="34" charset="-122"/>
                <a:cs typeface="Calibri" pitchFamily="34" charset="-120"/>
              </a:rPr>
              <a:t>User-perceived hallucinations</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Indexing: </a:t>
            </a:r>
            <a:r>
              <a:rPr lang="en-US" sz="1150" dirty="0">
                <a:solidFill>
                  <a:srgbClr val="1A1A1A"/>
                </a:solidFill>
                <a:latin typeface="Calibri" pitchFamily="34" charset="0"/>
                <a:ea typeface="Calibri" pitchFamily="34" charset="-122"/>
                <a:cs typeface="Calibri" pitchFamily="34" charset="-120"/>
              </a:rPr>
              <a:t>Yes, SCIE, Q1</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Source URL: </a:t>
            </a:r>
            <a:r>
              <a:rPr lang="en-US" sz="1150" dirty="0">
                <a:solidFill>
                  <a:srgbClr val="1A1A1A"/>
                </a:solidFill>
                <a:latin typeface="Calibri" pitchFamily="34" charset="0"/>
                <a:ea typeface="Calibri" pitchFamily="34" charset="-122"/>
                <a:cs typeface="Calibri" pitchFamily="34" charset="-120"/>
              </a:rPr>
              <a:t>https://www.nature.com/articles/s41598-025-15416-8</a:t>
            </a:r>
            <a:endParaRPr lang="en-US" sz="1150" dirty="0"/>
          </a:p>
        </p:txBody>
      </p:sp>
      <p:sp>
        <p:nvSpPr>
          <p:cNvPr id="5" name="Text 3"/>
          <p:cNvSpPr txBox="1"/>
          <p:nvPr/>
        </p:nvSpPr>
        <p:spPr>
          <a:xfrm>
            <a:off x="6172200" y="1463040"/>
            <a:ext cx="5440680" cy="5029200"/>
          </a:xfrm>
          <a:prstGeom prst="rect">
            <a:avLst/>
          </a:prstGeom>
          <a:noFill/>
          <a:ln/>
        </p:spPr>
        <p:txBody>
          <a:bodyPr wrap="square" lIns="0" tIns="0" rIns="0" bIns="0" rtlCol="0" anchor="t"/>
          <a:lstStyle/>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Method: </a:t>
            </a:r>
            <a:r>
              <a:rPr lang="en-US" sz="1150" dirty="0">
                <a:solidFill>
                  <a:srgbClr val="1A1A1A"/>
                </a:solidFill>
                <a:latin typeface="Calibri" pitchFamily="34" charset="0"/>
                <a:ea typeface="Calibri" pitchFamily="34" charset="-122"/>
                <a:cs typeface="Calibri" pitchFamily="34" charset="-120"/>
              </a:rPr>
              <a:t>Analyzes user reviews of AI mobile applications to identify how hallucinations are experienced and reported outside benchmark settings.</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Key Finding: </a:t>
            </a:r>
            <a:r>
              <a:rPr lang="en-US" sz="1150" dirty="0">
                <a:solidFill>
                  <a:srgbClr val="1A1A1A"/>
                </a:solidFill>
                <a:latin typeface="Calibri" pitchFamily="34" charset="0"/>
                <a:ea typeface="Calibri" pitchFamily="34" charset="-122"/>
                <a:cs typeface="Calibri" pitchFamily="34" charset="-120"/>
              </a:rPr>
              <a:t>Real-world evidence that hallucination is a user-facing reliability problem, not only a laboratory metric.</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Research Gap: </a:t>
            </a:r>
            <a:r>
              <a:rPr lang="en-US" sz="1150" dirty="0">
                <a:solidFill>
                  <a:srgbClr val="1A1A1A"/>
                </a:solidFill>
                <a:latin typeface="Calibri" pitchFamily="34" charset="0"/>
                <a:ea typeface="Calibri" pitchFamily="34" charset="-122"/>
                <a:cs typeface="Calibri" pitchFamily="34" charset="-120"/>
              </a:rPr>
              <a:t>User reports are noisy, subjective and incomplete; cannot directly identify root cause or true hallucination rate.</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Significance: </a:t>
            </a:r>
            <a:r>
              <a:rPr lang="en-US" sz="1150" dirty="0">
                <a:solidFill>
                  <a:srgbClr val="1A1A1A"/>
                </a:solidFill>
                <a:latin typeface="Calibri" pitchFamily="34" charset="0"/>
                <a:ea typeface="Calibri" pitchFamily="34" charset="-122"/>
                <a:cs typeface="Calibri" pitchFamily="34" charset="-120"/>
              </a:rPr>
              <a:t>Useful for creating human-centered evaluation and deployment-risk metrics.</a:t>
            </a:r>
            <a:endParaRPr lang="en-US" sz="1150" dirty="0"/>
          </a:p>
        </p:txBody>
      </p:sp>
      <p:sp>
        <p:nvSpPr>
          <p:cNvPr id="6" name="Text 4"/>
          <p:cNvSpPr txBox="1"/>
          <p:nvPr/>
        </p:nvSpPr>
        <p:spPr>
          <a:xfrm>
            <a:off x="11338560" y="6400800"/>
            <a:ext cx="457200" cy="274320"/>
          </a:xfrm>
          <a:prstGeom prst="rect">
            <a:avLst/>
          </a:prstGeom>
          <a:noFill/>
          <a:ln/>
        </p:spPr>
        <p:txBody>
          <a:bodyPr wrap="square" lIns="0" tIns="0" rIns="0" bIns="0" rtlCol="0" anchor="ctr"/>
          <a:lstStyle/>
          <a:p>
            <a:pPr marL="0" indent="0" algn="r">
              <a:buNone/>
            </a:pPr>
            <a:r>
              <a:rPr lang="en-US" sz="1000" dirty="0">
                <a:solidFill>
                  <a:srgbClr val="555555"/>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11064240" cy="274320"/>
          </a:xfrm>
          <a:prstGeom prst="rect">
            <a:avLst/>
          </a:prstGeom>
          <a:noFill/>
          <a:ln/>
        </p:spPr>
        <p:txBody>
          <a:bodyPr wrap="square" lIns="0" tIns="0" rIns="0" bIns="0" rtlCol="0" anchor="ctr"/>
          <a:lstStyle/>
          <a:p>
            <a:pPr marL="0" indent="0">
              <a:buNone/>
            </a:pPr>
            <a:r>
              <a:rPr lang="en-US" sz="1200" dirty="0">
                <a:solidFill>
                  <a:srgbClr val="555555"/>
                </a:solidFill>
                <a:latin typeface="Calibri" pitchFamily="34" charset="0"/>
                <a:ea typeface="Calibri" pitchFamily="34" charset="-122"/>
                <a:cs typeface="Calibri" pitchFamily="34" charset="-120"/>
              </a:rPr>
              <a:t>Paper 9 of 20</a:t>
            </a:r>
            <a:endParaRPr lang="en-US" sz="1200" dirty="0"/>
          </a:p>
        </p:txBody>
      </p:sp>
      <p:sp>
        <p:nvSpPr>
          <p:cNvPr id="3" name="Text 1"/>
          <p:cNvSpPr txBox="1"/>
          <p:nvPr/>
        </p:nvSpPr>
        <p:spPr>
          <a:xfrm>
            <a:off x="548640" y="594360"/>
            <a:ext cx="11064240" cy="777240"/>
          </a:xfrm>
          <a:prstGeom prst="rect">
            <a:avLst/>
          </a:prstGeom>
          <a:noFill/>
          <a:ln/>
        </p:spPr>
        <p:txBody>
          <a:bodyPr wrap="square" lIns="0" tIns="0" rIns="0" bIns="0" rtlCol="0" anchor="t"/>
          <a:lstStyle/>
          <a:p>
            <a:pPr marL="0" indent="0">
              <a:buNone/>
            </a:pPr>
            <a:r>
              <a:rPr lang="en-US" sz="1900" b="1" dirty="0">
                <a:solidFill>
                  <a:srgbClr val="1A1A1A"/>
                </a:solidFill>
                <a:latin typeface="Calibri" pitchFamily="34" charset="0"/>
                <a:ea typeface="Calibri" pitchFamily="34" charset="-122"/>
                <a:cs typeface="Calibri" pitchFamily="34" charset="-120"/>
              </a:rPr>
              <a:t>A scalable framework for evaluating multiple language models with hallucination identification and factual verification</a:t>
            </a:r>
            <a:endParaRPr lang="en-US" sz="1900" dirty="0"/>
          </a:p>
        </p:txBody>
      </p:sp>
      <p:sp>
        <p:nvSpPr>
          <p:cNvPr id="4" name="Text 2"/>
          <p:cNvSpPr txBox="1"/>
          <p:nvPr/>
        </p:nvSpPr>
        <p:spPr>
          <a:xfrm>
            <a:off x="548640" y="1463040"/>
            <a:ext cx="5394960" cy="5029200"/>
          </a:xfrm>
          <a:prstGeom prst="rect">
            <a:avLst/>
          </a:prstGeom>
          <a:noFill/>
          <a:ln/>
        </p:spPr>
        <p:txBody>
          <a:bodyPr wrap="square" lIns="0" tIns="0" rIns="0" bIns="0" rtlCol="0" anchor="t"/>
          <a:lstStyle/>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Authors: </a:t>
            </a:r>
            <a:r>
              <a:rPr lang="en-US" sz="1150" dirty="0">
                <a:solidFill>
                  <a:srgbClr val="1A1A1A"/>
                </a:solidFill>
                <a:latin typeface="Calibri" pitchFamily="34" charset="0"/>
                <a:ea typeface="Calibri" pitchFamily="34" charset="-122"/>
                <a:cs typeface="Calibri" pitchFamily="34" charset="-120"/>
              </a:rPr>
              <a:t>S. Chakraborty, et al.</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Year: </a:t>
            </a:r>
            <a:r>
              <a:rPr lang="en-US" sz="1150" dirty="0">
                <a:solidFill>
                  <a:srgbClr val="1A1A1A"/>
                </a:solidFill>
                <a:latin typeface="Calibri" pitchFamily="34" charset="0"/>
                <a:ea typeface="Calibri" pitchFamily="34" charset="-122"/>
                <a:cs typeface="Calibri" pitchFamily="34" charset="-120"/>
              </a:rPr>
              <a:t>2025</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Journal: </a:t>
            </a:r>
            <a:r>
              <a:rPr lang="en-US" sz="1150" dirty="0">
                <a:solidFill>
                  <a:srgbClr val="1A1A1A"/>
                </a:solidFill>
                <a:latin typeface="Calibri" pitchFamily="34" charset="0"/>
                <a:ea typeface="Calibri" pitchFamily="34" charset="-122"/>
                <a:cs typeface="Calibri" pitchFamily="34" charset="-120"/>
              </a:rPr>
              <a:t>Scientific Reports</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Publisher: </a:t>
            </a:r>
            <a:r>
              <a:rPr lang="en-US" sz="1150" dirty="0">
                <a:solidFill>
                  <a:srgbClr val="1A1A1A"/>
                </a:solidFill>
                <a:latin typeface="Calibri" pitchFamily="34" charset="0"/>
                <a:ea typeface="Calibri" pitchFamily="34" charset="-122"/>
                <a:cs typeface="Calibri" pitchFamily="34" charset="-120"/>
              </a:rPr>
              <a:t>Springer Nature</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Study Type: </a:t>
            </a:r>
            <a:r>
              <a:rPr lang="en-US" sz="1150" dirty="0">
                <a:solidFill>
                  <a:srgbClr val="1A1A1A"/>
                </a:solidFill>
                <a:latin typeface="Calibri" pitchFamily="34" charset="0"/>
                <a:ea typeface="Calibri" pitchFamily="34" charset="-122"/>
                <a:cs typeface="Calibri" pitchFamily="34" charset="-120"/>
              </a:rPr>
              <a:t>Multi-model evaluation</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Hallucination Focus: </a:t>
            </a:r>
            <a:r>
              <a:rPr lang="en-US" sz="1150" dirty="0">
                <a:solidFill>
                  <a:srgbClr val="1A1A1A"/>
                </a:solidFill>
                <a:latin typeface="Calibri" pitchFamily="34" charset="0"/>
                <a:ea typeface="Calibri" pitchFamily="34" charset="-122"/>
                <a:cs typeface="Calibri" pitchFamily="34" charset="-120"/>
              </a:rPr>
              <a:t>Factual verification / hallucination identification</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Indexing: </a:t>
            </a:r>
            <a:r>
              <a:rPr lang="en-US" sz="1150" dirty="0">
                <a:solidFill>
                  <a:srgbClr val="1A1A1A"/>
                </a:solidFill>
                <a:latin typeface="Calibri" pitchFamily="34" charset="0"/>
                <a:ea typeface="Calibri" pitchFamily="34" charset="-122"/>
                <a:cs typeface="Calibri" pitchFamily="34" charset="-120"/>
              </a:rPr>
              <a:t>Yes, SCIE, Q1</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Source URL: </a:t>
            </a:r>
            <a:r>
              <a:rPr lang="en-US" sz="1150" dirty="0">
                <a:solidFill>
                  <a:srgbClr val="1A1A1A"/>
                </a:solidFill>
                <a:latin typeface="Calibri" pitchFamily="34" charset="0"/>
                <a:ea typeface="Calibri" pitchFamily="34" charset="-122"/>
                <a:cs typeface="Calibri" pitchFamily="34" charset="-120"/>
              </a:rPr>
              <a:t>https://www.nature.com/articles/s41598-025-15203-5</a:t>
            </a:r>
            <a:endParaRPr lang="en-US" sz="1150" dirty="0"/>
          </a:p>
        </p:txBody>
      </p:sp>
      <p:sp>
        <p:nvSpPr>
          <p:cNvPr id="5" name="Text 3"/>
          <p:cNvSpPr txBox="1"/>
          <p:nvPr/>
        </p:nvSpPr>
        <p:spPr>
          <a:xfrm>
            <a:off x="6172200" y="1463040"/>
            <a:ext cx="5440680" cy="5029200"/>
          </a:xfrm>
          <a:prstGeom prst="rect">
            <a:avLst/>
          </a:prstGeom>
          <a:noFill/>
          <a:ln/>
        </p:spPr>
        <p:txBody>
          <a:bodyPr wrap="square" lIns="0" tIns="0" rIns="0" bIns="0" rtlCol="0" anchor="t"/>
          <a:lstStyle/>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Method: </a:t>
            </a:r>
            <a:r>
              <a:rPr lang="en-US" sz="1150" dirty="0">
                <a:solidFill>
                  <a:srgbClr val="1A1A1A"/>
                </a:solidFill>
                <a:latin typeface="Calibri" pitchFamily="34" charset="0"/>
                <a:ea typeface="Calibri" pitchFamily="34" charset="-122"/>
                <a:cs typeface="Calibri" pitchFamily="34" charset="-120"/>
              </a:rPr>
              <a:t>Builds a retrieval-supported framework comparing responses from multiple LLMs using semantic similarity, TF-IDF, NER and factuality-related checks.</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Key Finding: </a:t>
            </a:r>
            <a:r>
              <a:rPr lang="en-US" sz="1150" dirty="0">
                <a:solidFill>
                  <a:srgbClr val="1A1A1A"/>
                </a:solidFill>
                <a:latin typeface="Calibri" pitchFamily="34" charset="0"/>
                <a:ea typeface="Calibri" pitchFamily="34" charset="-122"/>
                <a:cs typeface="Calibri" pitchFamily="34" charset="-120"/>
              </a:rPr>
              <a:t>Demonstrates practical multi-model comparison and retrieval-based support for identifying questionable responses.</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Research Gap: </a:t>
            </a:r>
            <a:r>
              <a:rPr lang="en-US" sz="1150" dirty="0">
                <a:solidFill>
                  <a:srgbClr val="1A1A1A"/>
                </a:solidFill>
                <a:latin typeface="Calibri" pitchFamily="34" charset="0"/>
                <a:ea typeface="Calibri" pitchFamily="34" charset="-122"/>
                <a:cs typeface="Calibri" pitchFamily="34" charset="-120"/>
              </a:rPr>
              <a:t>Heuristic similarity and NER signals do not establish matching or truth. Needs claim-level evidence attribution and calibrated uncertainty.</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Significance: </a:t>
            </a:r>
            <a:r>
              <a:rPr lang="en-US" sz="1150" dirty="0">
                <a:solidFill>
                  <a:srgbClr val="1A1A1A"/>
                </a:solidFill>
                <a:latin typeface="Calibri" pitchFamily="34" charset="0"/>
                <a:ea typeface="Calibri" pitchFamily="34" charset="-122"/>
                <a:cs typeface="Calibri" pitchFamily="34" charset="-120"/>
              </a:rPr>
              <a:t>Relevant to ensemble and multi-agent verification systems.</a:t>
            </a:r>
            <a:endParaRPr lang="en-US" sz="1150" dirty="0"/>
          </a:p>
        </p:txBody>
      </p:sp>
      <p:sp>
        <p:nvSpPr>
          <p:cNvPr id="6" name="Text 4"/>
          <p:cNvSpPr txBox="1"/>
          <p:nvPr/>
        </p:nvSpPr>
        <p:spPr>
          <a:xfrm>
            <a:off x="11338560" y="6400800"/>
            <a:ext cx="457200" cy="274320"/>
          </a:xfrm>
          <a:prstGeom prst="rect">
            <a:avLst/>
          </a:prstGeom>
          <a:noFill/>
          <a:ln/>
        </p:spPr>
        <p:txBody>
          <a:bodyPr wrap="square" lIns="0" tIns="0" rIns="0" bIns="0" rtlCol="0" anchor="ctr"/>
          <a:lstStyle/>
          <a:p>
            <a:pPr marL="0" indent="0" algn="r">
              <a:buNone/>
            </a:pPr>
            <a:r>
              <a:rPr lang="en-US" sz="1000" dirty="0">
                <a:solidFill>
                  <a:srgbClr val="555555"/>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1064240" cy="274320"/>
          </a:xfrm>
          <a:prstGeom prst="rect">
            <a:avLst/>
          </a:prstGeom>
          <a:noFill/>
          <a:ln/>
        </p:spPr>
        <p:txBody>
          <a:bodyPr wrap="square" lIns="0" tIns="0" rIns="0" bIns="0" rtlCol="0" anchor="ctr"/>
          <a:lstStyle/>
          <a:p>
            <a:pPr marL="0" indent="0">
              <a:buNone/>
            </a:pPr>
            <a:r>
              <a:rPr lang="en-US" sz="1200" dirty="0">
                <a:solidFill>
                  <a:srgbClr val="555555"/>
                </a:solidFill>
                <a:latin typeface="Calibri" pitchFamily="34" charset="0"/>
                <a:ea typeface="Calibri" pitchFamily="34" charset="-122"/>
                <a:cs typeface="Calibri" pitchFamily="34" charset="-120"/>
              </a:rPr>
              <a:t>Paper 10 of 20</a:t>
            </a:r>
            <a:endParaRPr lang="en-US" sz="1200" dirty="0"/>
          </a:p>
        </p:txBody>
      </p:sp>
      <p:sp>
        <p:nvSpPr>
          <p:cNvPr id="3" name="Text 1"/>
          <p:cNvSpPr txBox="1"/>
          <p:nvPr/>
        </p:nvSpPr>
        <p:spPr>
          <a:xfrm>
            <a:off x="548640" y="594360"/>
            <a:ext cx="11064240" cy="777240"/>
          </a:xfrm>
          <a:prstGeom prst="rect">
            <a:avLst/>
          </a:prstGeom>
          <a:noFill/>
          <a:ln/>
        </p:spPr>
        <p:txBody>
          <a:bodyPr wrap="square" lIns="0" tIns="0" rIns="0" bIns="0" rtlCol="0" anchor="t"/>
          <a:lstStyle/>
          <a:p>
            <a:pPr marL="0" indent="0">
              <a:buNone/>
            </a:pPr>
            <a:r>
              <a:rPr lang="en-US" sz="1900" b="1" dirty="0">
                <a:solidFill>
                  <a:srgbClr val="1A1A1A"/>
                </a:solidFill>
                <a:latin typeface="Calibri" pitchFamily="34" charset="0"/>
                <a:ea typeface="Calibri" pitchFamily="34" charset="-122"/>
                <a:cs typeface="Calibri" pitchFamily="34" charset="-120"/>
              </a:rPr>
              <a:t>HaluCheck: Explainable and verifiable automation for detecting hallucinations in LLM responses</a:t>
            </a:r>
            <a:endParaRPr lang="en-US" sz="1900" dirty="0"/>
          </a:p>
        </p:txBody>
      </p:sp>
      <p:sp>
        <p:nvSpPr>
          <p:cNvPr id="4" name="Text 2"/>
          <p:cNvSpPr txBox="1"/>
          <p:nvPr/>
        </p:nvSpPr>
        <p:spPr>
          <a:xfrm>
            <a:off x="548640" y="1463040"/>
            <a:ext cx="5394960" cy="5029200"/>
          </a:xfrm>
          <a:prstGeom prst="rect">
            <a:avLst/>
          </a:prstGeom>
          <a:noFill/>
          <a:ln/>
        </p:spPr>
        <p:txBody>
          <a:bodyPr wrap="square" lIns="0" tIns="0" rIns="0" bIns="0" rtlCol="0" anchor="t"/>
          <a:lstStyle/>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Authors: </a:t>
            </a:r>
            <a:r>
              <a:rPr lang="en-US" sz="1150" dirty="0">
                <a:solidFill>
                  <a:srgbClr val="1A1A1A"/>
                </a:solidFill>
                <a:latin typeface="Calibri" pitchFamily="34" charset="0"/>
                <a:ea typeface="Calibri" pitchFamily="34" charset="-122"/>
                <a:cs typeface="Calibri" pitchFamily="34" charset="-120"/>
              </a:rPr>
              <a:t>Sangwoo Heo, Sungwook Son, Hyunwoo Park</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Year: </a:t>
            </a:r>
            <a:r>
              <a:rPr lang="en-US" sz="1150" dirty="0">
                <a:solidFill>
                  <a:srgbClr val="1A1A1A"/>
                </a:solidFill>
                <a:latin typeface="Calibri" pitchFamily="34" charset="0"/>
                <a:ea typeface="Calibri" pitchFamily="34" charset="-122"/>
                <a:cs typeface="Calibri" pitchFamily="34" charset="-120"/>
              </a:rPr>
              <a:t>2025</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Journal: </a:t>
            </a:r>
            <a:r>
              <a:rPr lang="en-US" sz="1150" dirty="0">
                <a:solidFill>
                  <a:srgbClr val="1A1A1A"/>
                </a:solidFill>
                <a:latin typeface="Calibri" pitchFamily="34" charset="0"/>
                <a:ea typeface="Calibri" pitchFamily="34" charset="-122"/>
                <a:cs typeface="Calibri" pitchFamily="34" charset="-120"/>
              </a:rPr>
              <a:t>Expert Systems with Applications</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Publisher: </a:t>
            </a:r>
            <a:r>
              <a:rPr lang="en-US" sz="1150" dirty="0">
                <a:solidFill>
                  <a:srgbClr val="1A1A1A"/>
                </a:solidFill>
                <a:latin typeface="Calibri" pitchFamily="34" charset="0"/>
                <a:ea typeface="Calibri" pitchFamily="34" charset="-122"/>
                <a:cs typeface="Calibri" pitchFamily="34" charset="-120"/>
              </a:rPr>
              <a:t>Elsevier</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Study Type: </a:t>
            </a:r>
            <a:r>
              <a:rPr lang="en-US" sz="1150" dirty="0">
                <a:solidFill>
                  <a:srgbClr val="1A1A1A"/>
                </a:solidFill>
                <a:latin typeface="Calibri" pitchFamily="34" charset="0"/>
                <a:ea typeface="Calibri" pitchFamily="34" charset="-122"/>
                <a:cs typeface="Calibri" pitchFamily="34" charset="-120"/>
              </a:rPr>
              <a:t>Explainable hallucination detection</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Hallucination Focus: </a:t>
            </a:r>
            <a:r>
              <a:rPr lang="en-US" sz="1150" dirty="0">
                <a:solidFill>
                  <a:srgbClr val="1A1A1A"/>
                </a:solidFill>
                <a:latin typeface="Calibri" pitchFamily="34" charset="0"/>
                <a:ea typeface="Calibri" pitchFamily="34" charset="-122"/>
                <a:cs typeface="Calibri" pitchFamily="34" charset="-120"/>
              </a:rPr>
              <a:t>Response-level factuality</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Indexing: </a:t>
            </a:r>
            <a:r>
              <a:rPr lang="en-US" sz="1150" dirty="0">
                <a:solidFill>
                  <a:srgbClr val="1A1A1A"/>
                </a:solidFill>
                <a:latin typeface="Calibri" pitchFamily="34" charset="0"/>
                <a:ea typeface="Calibri" pitchFamily="34" charset="-122"/>
                <a:cs typeface="Calibri" pitchFamily="34" charset="-120"/>
              </a:rPr>
              <a:t>Yes, SCIE, Q1</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Source URL: </a:t>
            </a:r>
            <a:r>
              <a:rPr lang="en-US" sz="1150" dirty="0">
                <a:solidFill>
                  <a:srgbClr val="1A1A1A"/>
                </a:solidFill>
                <a:latin typeface="Calibri" pitchFamily="34" charset="0"/>
                <a:ea typeface="Calibri" pitchFamily="34" charset="-122"/>
                <a:cs typeface="Calibri" pitchFamily="34" charset="-120"/>
              </a:rPr>
              <a:t>https://www.sciencedirect.com/science/article/pii/S0957417425003343</a:t>
            </a:r>
            <a:endParaRPr lang="en-US" sz="1150" dirty="0"/>
          </a:p>
        </p:txBody>
      </p:sp>
      <p:sp>
        <p:nvSpPr>
          <p:cNvPr id="5" name="Text 3"/>
          <p:cNvSpPr txBox="1"/>
          <p:nvPr/>
        </p:nvSpPr>
        <p:spPr>
          <a:xfrm>
            <a:off x="6172200" y="1463040"/>
            <a:ext cx="5440680" cy="5029200"/>
          </a:xfrm>
          <a:prstGeom prst="rect">
            <a:avLst/>
          </a:prstGeom>
          <a:noFill/>
          <a:ln/>
        </p:spPr>
        <p:txBody>
          <a:bodyPr wrap="square" lIns="0" tIns="0" rIns="0" bIns="0" rtlCol="0" anchor="t"/>
          <a:lstStyle/>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Method: </a:t>
            </a:r>
            <a:r>
              <a:rPr lang="en-US" sz="1150" dirty="0">
                <a:solidFill>
                  <a:srgbClr val="1A1A1A"/>
                </a:solidFill>
                <a:latin typeface="Calibri" pitchFamily="34" charset="0"/>
                <a:ea typeface="Calibri" pitchFamily="34" charset="-122"/>
                <a:cs typeface="Calibri" pitchFamily="34" charset="-120"/>
              </a:rPr>
              <a:t>Introduces a visualization and decision-support system that estimates hallucination likelihood and exposes evidence to users.</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Key Finding: </a:t>
            </a:r>
            <a:r>
              <a:rPr lang="en-US" sz="1150" dirty="0">
                <a:solidFill>
                  <a:srgbClr val="1A1A1A"/>
                </a:solidFill>
                <a:latin typeface="Calibri" pitchFamily="34" charset="0"/>
                <a:ea typeface="Calibri" pitchFamily="34" charset="-122"/>
                <a:cs typeface="Calibri" pitchFamily="34" charset="-120"/>
              </a:rPr>
              <a:t>Emphasizes explainability and user-facing verification rather than only a binary hallucination label.</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Research Gap: </a:t>
            </a:r>
            <a:r>
              <a:rPr lang="en-US" sz="1150" dirty="0">
                <a:solidFill>
                  <a:srgbClr val="1A1A1A"/>
                </a:solidFill>
                <a:latin typeface="Calibri" pitchFamily="34" charset="0"/>
                <a:ea typeface="Calibri" pitchFamily="34" charset="-122"/>
                <a:cs typeface="Calibri" pitchFamily="34" charset="-120"/>
              </a:rPr>
              <a:t>User-centered visualization does not itself guarantee factual correctness. Needs stronger claim-level grounding and calibration.</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Significance: </a:t>
            </a:r>
            <a:r>
              <a:rPr lang="en-US" sz="1150" dirty="0">
                <a:solidFill>
                  <a:srgbClr val="1A1A1A"/>
                </a:solidFill>
                <a:latin typeface="Calibri" pitchFamily="34" charset="0"/>
                <a:ea typeface="Calibri" pitchFamily="34" charset="-122"/>
                <a:cs typeface="Calibri" pitchFamily="34" charset="-120"/>
              </a:rPr>
              <a:t>Good reference for explainable hallucination auditing interfaces.</a:t>
            </a:r>
            <a:endParaRPr lang="en-US" sz="1150" dirty="0"/>
          </a:p>
        </p:txBody>
      </p:sp>
      <p:sp>
        <p:nvSpPr>
          <p:cNvPr id="6" name="Text 4"/>
          <p:cNvSpPr txBox="1"/>
          <p:nvPr/>
        </p:nvSpPr>
        <p:spPr>
          <a:xfrm>
            <a:off x="11338560" y="6400800"/>
            <a:ext cx="457200" cy="274320"/>
          </a:xfrm>
          <a:prstGeom prst="rect">
            <a:avLst/>
          </a:prstGeom>
          <a:noFill/>
          <a:ln/>
        </p:spPr>
        <p:txBody>
          <a:bodyPr wrap="square" lIns="0" tIns="0" rIns="0" bIns="0" rtlCol="0" anchor="ctr"/>
          <a:lstStyle/>
          <a:p>
            <a:pPr marL="0" indent="0" algn="r">
              <a:buNone/>
            </a:pPr>
            <a:r>
              <a:rPr lang="en-US" sz="1000" dirty="0">
                <a:solidFill>
                  <a:srgbClr val="555555"/>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1064240" cy="274320"/>
          </a:xfrm>
          <a:prstGeom prst="rect">
            <a:avLst/>
          </a:prstGeom>
          <a:noFill/>
          <a:ln/>
        </p:spPr>
        <p:txBody>
          <a:bodyPr wrap="square" lIns="0" tIns="0" rIns="0" bIns="0" rtlCol="0" anchor="ctr"/>
          <a:lstStyle/>
          <a:p>
            <a:pPr marL="0" indent="0">
              <a:buNone/>
            </a:pPr>
            <a:r>
              <a:rPr lang="en-US" sz="1200" dirty="0">
                <a:solidFill>
                  <a:srgbClr val="555555"/>
                </a:solidFill>
                <a:latin typeface="Calibri" pitchFamily="34" charset="0"/>
                <a:ea typeface="Calibri" pitchFamily="34" charset="-122"/>
                <a:cs typeface="Calibri" pitchFamily="34" charset="-120"/>
              </a:rPr>
              <a:t>Paper 11 of 20</a:t>
            </a:r>
            <a:endParaRPr lang="en-US" sz="1200" dirty="0"/>
          </a:p>
        </p:txBody>
      </p:sp>
      <p:sp>
        <p:nvSpPr>
          <p:cNvPr id="3" name="Text 1"/>
          <p:cNvSpPr txBox="1"/>
          <p:nvPr/>
        </p:nvSpPr>
        <p:spPr>
          <a:xfrm>
            <a:off x="548640" y="594360"/>
            <a:ext cx="11064240" cy="777240"/>
          </a:xfrm>
          <a:prstGeom prst="rect">
            <a:avLst/>
          </a:prstGeom>
          <a:noFill/>
          <a:ln/>
        </p:spPr>
        <p:txBody>
          <a:bodyPr wrap="square" lIns="0" tIns="0" rIns="0" bIns="0" rtlCol="0" anchor="t"/>
          <a:lstStyle/>
          <a:p>
            <a:pPr marL="0" indent="0">
              <a:buNone/>
            </a:pPr>
            <a:r>
              <a:rPr lang="en-US" sz="1900" b="1" dirty="0">
                <a:solidFill>
                  <a:srgbClr val="1A1A1A"/>
                </a:solidFill>
                <a:latin typeface="Calibri" pitchFamily="34" charset="0"/>
                <a:ea typeface="Calibri" pitchFamily="34" charset="-122"/>
                <a:cs typeface="Calibri" pitchFamily="34" charset="-120"/>
              </a:rPr>
              <a:t>Mitigating reasoning hallucination through Multi-agent Collaborative Filtering</a:t>
            </a:r>
            <a:endParaRPr lang="en-US" sz="1900" dirty="0"/>
          </a:p>
        </p:txBody>
      </p:sp>
      <p:sp>
        <p:nvSpPr>
          <p:cNvPr id="4" name="Text 2"/>
          <p:cNvSpPr txBox="1"/>
          <p:nvPr/>
        </p:nvSpPr>
        <p:spPr>
          <a:xfrm>
            <a:off x="548640" y="1463040"/>
            <a:ext cx="5394960" cy="5029200"/>
          </a:xfrm>
          <a:prstGeom prst="rect">
            <a:avLst/>
          </a:prstGeom>
          <a:noFill/>
          <a:ln/>
        </p:spPr>
        <p:txBody>
          <a:bodyPr wrap="square" lIns="0" tIns="0" rIns="0" bIns="0" rtlCol="0" anchor="t"/>
          <a:lstStyle/>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Authors: </a:t>
            </a:r>
            <a:r>
              <a:rPr lang="en-US" sz="1150" dirty="0">
                <a:solidFill>
                  <a:srgbClr val="1A1A1A"/>
                </a:solidFill>
                <a:latin typeface="Calibri" pitchFamily="34" charset="0"/>
                <a:ea typeface="Calibri" pitchFamily="34" charset="-122"/>
                <a:cs typeface="Calibri" pitchFamily="34" charset="-120"/>
              </a:rPr>
              <a:t>Jinxin Shi, Jiabao Zhao, Xingjiao Wu, Ruyi Xu, Yuan Hao Jiang, Liang He</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Year: </a:t>
            </a:r>
            <a:r>
              <a:rPr lang="en-US" sz="1150" dirty="0">
                <a:solidFill>
                  <a:srgbClr val="1A1A1A"/>
                </a:solidFill>
                <a:latin typeface="Calibri" pitchFamily="34" charset="0"/>
                <a:ea typeface="Calibri" pitchFamily="34" charset="-122"/>
                <a:cs typeface="Calibri" pitchFamily="34" charset="-120"/>
              </a:rPr>
              <a:t>2025</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Journal: </a:t>
            </a:r>
            <a:r>
              <a:rPr lang="en-US" sz="1150" dirty="0">
                <a:solidFill>
                  <a:srgbClr val="1A1A1A"/>
                </a:solidFill>
                <a:latin typeface="Calibri" pitchFamily="34" charset="0"/>
                <a:ea typeface="Calibri" pitchFamily="34" charset="-122"/>
                <a:cs typeface="Calibri" pitchFamily="34" charset="-120"/>
              </a:rPr>
              <a:t>Expert Systems with Applications</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Publisher: </a:t>
            </a:r>
            <a:r>
              <a:rPr lang="en-US" sz="1150" dirty="0">
                <a:solidFill>
                  <a:srgbClr val="1A1A1A"/>
                </a:solidFill>
                <a:latin typeface="Calibri" pitchFamily="34" charset="0"/>
                <a:ea typeface="Calibri" pitchFamily="34" charset="-122"/>
                <a:cs typeface="Calibri" pitchFamily="34" charset="-120"/>
              </a:rPr>
              <a:t>Elsevier</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Study Type: </a:t>
            </a:r>
            <a:r>
              <a:rPr lang="en-US" sz="1150" dirty="0">
                <a:solidFill>
                  <a:srgbClr val="1A1A1A"/>
                </a:solidFill>
                <a:latin typeface="Calibri" pitchFamily="34" charset="0"/>
                <a:ea typeface="Calibri" pitchFamily="34" charset="-122"/>
                <a:cs typeface="Calibri" pitchFamily="34" charset="-120"/>
              </a:rPr>
              <a:t>Multi-agent mitigation</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Hallucination Focus: </a:t>
            </a:r>
            <a:r>
              <a:rPr lang="en-US" sz="1150" dirty="0">
                <a:solidFill>
                  <a:srgbClr val="1A1A1A"/>
                </a:solidFill>
                <a:latin typeface="Calibri" pitchFamily="34" charset="0"/>
                <a:ea typeface="Calibri" pitchFamily="34" charset="-122"/>
                <a:cs typeface="Calibri" pitchFamily="34" charset="-120"/>
              </a:rPr>
              <a:t>Reasoning hallucination</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Indexing: </a:t>
            </a:r>
            <a:r>
              <a:rPr lang="en-US" sz="1150" dirty="0">
                <a:solidFill>
                  <a:srgbClr val="1A1A1A"/>
                </a:solidFill>
                <a:latin typeface="Calibri" pitchFamily="34" charset="0"/>
                <a:ea typeface="Calibri" pitchFamily="34" charset="-122"/>
                <a:cs typeface="Calibri" pitchFamily="34" charset="-120"/>
              </a:rPr>
              <a:t>Yes, SCIE, Q1</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Source URL: </a:t>
            </a:r>
            <a:r>
              <a:rPr lang="en-US" sz="1150" dirty="0">
                <a:solidFill>
                  <a:srgbClr val="1A1A1A"/>
                </a:solidFill>
                <a:latin typeface="Calibri" pitchFamily="34" charset="0"/>
                <a:ea typeface="Calibri" pitchFamily="34" charset="-122"/>
                <a:cs typeface="Calibri" pitchFamily="34" charset="-120"/>
              </a:rPr>
              <a:t>https://www.sciencedirect.com/science/article/abs/pii/S0957417424025909</a:t>
            </a:r>
            <a:endParaRPr lang="en-US" sz="1150" dirty="0"/>
          </a:p>
        </p:txBody>
      </p:sp>
      <p:sp>
        <p:nvSpPr>
          <p:cNvPr id="5" name="Text 3"/>
          <p:cNvSpPr txBox="1"/>
          <p:nvPr/>
        </p:nvSpPr>
        <p:spPr>
          <a:xfrm>
            <a:off x="6172200" y="1463040"/>
            <a:ext cx="5440680" cy="5029200"/>
          </a:xfrm>
          <a:prstGeom prst="rect">
            <a:avLst/>
          </a:prstGeom>
          <a:noFill/>
          <a:ln/>
        </p:spPr>
        <p:txBody>
          <a:bodyPr wrap="square" lIns="0" tIns="0" rIns="0" bIns="0" rtlCol="0" anchor="t"/>
          <a:lstStyle/>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Method: </a:t>
            </a:r>
            <a:r>
              <a:rPr lang="en-US" sz="1150" dirty="0">
                <a:solidFill>
                  <a:srgbClr val="1A1A1A"/>
                </a:solidFill>
                <a:latin typeface="Calibri" pitchFamily="34" charset="0"/>
                <a:ea typeface="Calibri" pitchFamily="34" charset="-122"/>
                <a:cs typeface="Calibri" pitchFamily="34" charset="-120"/>
              </a:rPr>
              <a:t>Uses multiple LLM agents to generate diverse reasoning paths and collaborative filtering to select more reliable answers.</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Key Finding: </a:t>
            </a:r>
            <a:r>
              <a:rPr lang="en-US" sz="1150" dirty="0">
                <a:solidFill>
                  <a:srgbClr val="1A1A1A"/>
                </a:solidFill>
                <a:latin typeface="Calibri" pitchFamily="34" charset="0"/>
                <a:ea typeface="Calibri" pitchFamily="34" charset="-122"/>
                <a:cs typeface="Calibri" pitchFamily="34" charset="-120"/>
              </a:rPr>
              <a:t>Multi-agent diversity can reduce reasoning hallucination and improve answer reliability compared with a single reasoning path.</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Research Gap: </a:t>
            </a:r>
            <a:r>
              <a:rPr lang="en-US" sz="1150" dirty="0">
                <a:solidFill>
                  <a:srgbClr val="1A1A1A"/>
                </a:solidFill>
                <a:latin typeface="Calibri" pitchFamily="34" charset="0"/>
                <a:ea typeface="Calibri" pitchFamily="34" charset="-122"/>
                <a:cs typeface="Calibri" pitchFamily="34" charset="-120"/>
              </a:rPr>
              <a:t>Agents may share correlated errors and increase cost/latency. Voting or filtering does not prove correctness.</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Significance: </a:t>
            </a:r>
            <a:r>
              <a:rPr lang="en-US" sz="1150" dirty="0">
                <a:solidFill>
                  <a:srgbClr val="1A1A1A"/>
                </a:solidFill>
                <a:latin typeface="Calibri" pitchFamily="34" charset="0"/>
                <a:ea typeface="Calibri" pitchFamily="34" charset="-122"/>
                <a:cs typeface="Calibri" pitchFamily="34" charset="-120"/>
              </a:rPr>
              <a:t>Highly relevant for extending to specialized verifier agents and closed-loop repair.</a:t>
            </a:r>
            <a:endParaRPr lang="en-US" sz="1150" dirty="0"/>
          </a:p>
        </p:txBody>
      </p:sp>
      <p:sp>
        <p:nvSpPr>
          <p:cNvPr id="6" name="Text 4"/>
          <p:cNvSpPr txBox="1"/>
          <p:nvPr/>
        </p:nvSpPr>
        <p:spPr>
          <a:xfrm>
            <a:off x="11338560" y="6400800"/>
            <a:ext cx="457200" cy="274320"/>
          </a:xfrm>
          <a:prstGeom prst="rect">
            <a:avLst/>
          </a:prstGeom>
          <a:noFill/>
          <a:ln/>
        </p:spPr>
        <p:txBody>
          <a:bodyPr wrap="square" lIns="0" tIns="0" rIns="0" bIns="0" rtlCol="0" anchor="ctr"/>
          <a:lstStyle/>
          <a:p>
            <a:pPr marL="0" indent="0" algn="r">
              <a:buNone/>
            </a:pPr>
            <a:r>
              <a:rPr lang="en-US" sz="1000" dirty="0">
                <a:solidFill>
                  <a:srgbClr val="555555"/>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11064240" cy="274320"/>
          </a:xfrm>
          <a:prstGeom prst="rect">
            <a:avLst/>
          </a:prstGeom>
          <a:noFill/>
          <a:ln/>
        </p:spPr>
        <p:txBody>
          <a:bodyPr wrap="square" lIns="0" tIns="0" rIns="0" bIns="0" rtlCol="0" anchor="ctr"/>
          <a:lstStyle/>
          <a:p>
            <a:pPr marL="0" indent="0">
              <a:buNone/>
            </a:pPr>
            <a:r>
              <a:rPr lang="en-US" sz="1200" dirty="0">
                <a:solidFill>
                  <a:srgbClr val="555555"/>
                </a:solidFill>
                <a:latin typeface="Calibri" pitchFamily="34" charset="0"/>
                <a:ea typeface="Calibri" pitchFamily="34" charset="-122"/>
                <a:cs typeface="Calibri" pitchFamily="34" charset="-120"/>
              </a:rPr>
              <a:t>Paper 12 of 20</a:t>
            </a:r>
            <a:endParaRPr lang="en-US" sz="1200" dirty="0"/>
          </a:p>
        </p:txBody>
      </p:sp>
      <p:sp>
        <p:nvSpPr>
          <p:cNvPr id="3" name="Text 1"/>
          <p:cNvSpPr txBox="1"/>
          <p:nvPr/>
        </p:nvSpPr>
        <p:spPr>
          <a:xfrm>
            <a:off x="548640" y="594360"/>
            <a:ext cx="11064240" cy="777240"/>
          </a:xfrm>
          <a:prstGeom prst="rect">
            <a:avLst/>
          </a:prstGeom>
          <a:noFill/>
          <a:ln/>
        </p:spPr>
        <p:txBody>
          <a:bodyPr wrap="square" lIns="0" tIns="0" rIns="0" bIns="0" rtlCol="0" anchor="t"/>
          <a:lstStyle/>
          <a:p>
            <a:pPr marL="0" indent="0">
              <a:buNone/>
            </a:pPr>
            <a:r>
              <a:rPr lang="en-US" sz="1900" b="1" dirty="0">
                <a:solidFill>
                  <a:srgbClr val="1A1A1A"/>
                </a:solidFill>
                <a:latin typeface="Calibri" pitchFamily="34" charset="0"/>
                <a:ea typeface="Calibri" pitchFamily="34" charset="-122"/>
                <a:cs typeface="Calibri" pitchFamily="34" charset="-120"/>
              </a:rPr>
              <a:t>Hallucinations of large multimodal models: Problem and countermeasures</a:t>
            </a:r>
            <a:endParaRPr lang="en-US" sz="1900" dirty="0"/>
          </a:p>
        </p:txBody>
      </p:sp>
      <p:sp>
        <p:nvSpPr>
          <p:cNvPr id="4" name="Text 2"/>
          <p:cNvSpPr txBox="1"/>
          <p:nvPr/>
        </p:nvSpPr>
        <p:spPr>
          <a:xfrm>
            <a:off x="548640" y="1463040"/>
            <a:ext cx="5394960" cy="5029200"/>
          </a:xfrm>
          <a:prstGeom prst="rect">
            <a:avLst/>
          </a:prstGeom>
          <a:noFill/>
          <a:ln/>
        </p:spPr>
        <p:txBody>
          <a:bodyPr wrap="square" lIns="0" tIns="0" rIns="0" bIns="0" rtlCol="0" anchor="t"/>
          <a:lstStyle/>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Authors: </a:t>
            </a:r>
            <a:r>
              <a:rPr lang="en-US" sz="1150" dirty="0">
                <a:solidFill>
                  <a:srgbClr val="1A1A1A"/>
                </a:solidFill>
                <a:latin typeface="Calibri" pitchFamily="34" charset="0"/>
                <a:ea typeface="Calibri" pitchFamily="34" charset="-122"/>
                <a:cs typeface="Calibri" pitchFamily="34" charset="-120"/>
              </a:rPr>
              <a:t>Shiliang Sun, Zhilin Lin, Xuhan Wu</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Year: </a:t>
            </a:r>
            <a:r>
              <a:rPr lang="en-US" sz="1150" dirty="0">
                <a:solidFill>
                  <a:srgbClr val="1A1A1A"/>
                </a:solidFill>
                <a:latin typeface="Calibri" pitchFamily="34" charset="0"/>
                <a:ea typeface="Calibri" pitchFamily="34" charset="-122"/>
                <a:cs typeface="Calibri" pitchFamily="34" charset="-120"/>
              </a:rPr>
              <a:t>2025</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Journal: </a:t>
            </a:r>
            <a:r>
              <a:rPr lang="en-US" sz="1150" dirty="0">
                <a:solidFill>
                  <a:srgbClr val="1A1A1A"/>
                </a:solidFill>
                <a:latin typeface="Calibri" pitchFamily="34" charset="0"/>
                <a:ea typeface="Calibri" pitchFamily="34" charset="-122"/>
                <a:cs typeface="Calibri" pitchFamily="34" charset="-120"/>
              </a:rPr>
              <a:t>Information Fusion</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Publisher: </a:t>
            </a:r>
            <a:r>
              <a:rPr lang="en-US" sz="1150" dirty="0">
                <a:solidFill>
                  <a:srgbClr val="1A1A1A"/>
                </a:solidFill>
                <a:latin typeface="Calibri" pitchFamily="34" charset="0"/>
                <a:ea typeface="Calibri" pitchFamily="34" charset="-122"/>
                <a:cs typeface="Calibri" pitchFamily="34" charset="-120"/>
              </a:rPr>
              <a:t>Elsevier</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Study Type: </a:t>
            </a:r>
            <a:r>
              <a:rPr lang="en-US" sz="1150" dirty="0">
                <a:solidFill>
                  <a:srgbClr val="1A1A1A"/>
                </a:solidFill>
                <a:latin typeface="Calibri" pitchFamily="34" charset="0"/>
                <a:ea typeface="Calibri" pitchFamily="34" charset="-122"/>
                <a:cs typeface="Calibri" pitchFamily="34" charset="-120"/>
              </a:rPr>
              <a:t>Review / framework</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Hallucination Focus: </a:t>
            </a:r>
            <a:r>
              <a:rPr lang="en-US" sz="1150" dirty="0">
                <a:solidFill>
                  <a:srgbClr val="1A1A1A"/>
                </a:solidFill>
                <a:latin typeface="Calibri" pitchFamily="34" charset="0"/>
                <a:ea typeface="Calibri" pitchFamily="34" charset="-122"/>
                <a:cs typeface="Calibri" pitchFamily="34" charset="-120"/>
              </a:rPr>
              <a:t>Multimodal hallucination</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Indexing: </a:t>
            </a:r>
            <a:r>
              <a:rPr lang="en-US" sz="1150" dirty="0">
                <a:solidFill>
                  <a:srgbClr val="1A1A1A"/>
                </a:solidFill>
                <a:latin typeface="Calibri" pitchFamily="34" charset="0"/>
                <a:ea typeface="Calibri" pitchFamily="34" charset="-122"/>
                <a:cs typeface="Calibri" pitchFamily="34" charset="-120"/>
              </a:rPr>
              <a:t>Yes, SCIE, Q1</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Source URL: </a:t>
            </a:r>
            <a:r>
              <a:rPr lang="en-US" sz="1150" dirty="0">
                <a:solidFill>
                  <a:srgbClr val="1A1A1A"/>
                </a:solidFill>
                <a:latin typeface="Calibri" pitchFamily="34" charset="0"/>
                <a:ea typeface="Calibri" pitchFamily="34" charset="-122"/>
                <a:cs typeface="Calibri" pitchFamily="34" charset="-120"/>
              </a:rPr>
              <a:t>https://www.sciencedirect.com/science/article/abs/pii/S1566253525000430</a:t>
            </a:r>
            <a:endParaRPr lang="en-US" sz="1150" dirty="0"/>
          </a:p>
        </p:txBody>
      </p:sp>
      <p:sp>
        <p:nvSpPr>
          <p:cNvPr id="5" name="Text 3"/>
          <p:cNvSpPr txBox="1"/>
          <p:nvPr/>
        </p:nvSpPr>
        <p:spPr>
          <a:xfrm>
            <a:off x="6172200" y="1463040"/>
            <a:ext cx="5440680" cy="5029200"/>
          </a:xfrm>
          <a:prstGeom prst="rect">
            <a:avLst/>
          </a:prstGeom>
          <a:noFill/>
          <a:ln/>
        </p:spPr>
        <p:txBody>
          <a:bodyPr wrap="square" lIns="0" tIns="0" rIns="0" bIns="0" rtlCol="0" anchor="t"/>
          <a:lstStyle/>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Method: </a:t>
            </a:r>
            <a:r>
              <a:rPr lang="en-US" sz="1150" dirty="0">
                <a:solidFill>
                  <a:srgbClr val="1A1A1A"/>
                </a:solidFill>
                <a:latin typeface="Calibri" pitchFamily="34" charset="0"/>
                <a:ea typeface="Calibri" pitchFamily="34" charset="-122"/>
                <a:cs typeface="Calibri" pitchFamily="34" charset="-120"/>
              </a:rPr>
              <a:t>Analyzes causes and categories of hallucination in large multimodal models and organizes mitigation strategies.</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Key Finding: </a:t>
            </a:r>
            <a:r>
              <a:rPr lang="en-US" sz="1150" dirty="0">
                <a:solidFill>
                  <a:srgbClr val="1A1A1A"/>
                </a:solidFill>
                <a:latin typeface="Calibri" pitchFamily="34" charset="0"/>
                <a:ea typeface="Calibri" pitchFamily="34" charset="-122"/>
                <a:cs typeface="Calibri" pitchFamily="34" charset="-120"/>
              </a:rPr>
              <a:t>Hallucination emerges from both language-generation behavior and cross-modal misalignment.</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Research Gap: </a:t>
            </a:r>
            <a:r>
              <a:rPr lang="en-US" sz="1150" dirty="0">
                <a:solidFill>
                  <a:srgbClr val="1A1A1A"/>
                </a:solidFill>
                <a:latin typeface="Calibri" pitchFamily="34" charset="0"/>
                <a:ea typeface="Calibri" pitchFamily="34" charset="-122"/>
                <a:cs typeface="Calibri" pitchFamily="34" charset="-120"/>
              </a:rPr>
              <a:t>Needs standardized multimodal benchmarks, temporal/video hallucination evaluation and unified metrics across modalities.</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Significance: </a:t>
            </a:r>
            <a:r>
              <a:rPr lang="en-US" sz="1150" dirty="0">
                <a:solidFill>
                  <a:srgbClr val="1A1A1A"/>
                </a:solidFill>
                <a:latin typeface="Calibri" pitchFamily="34" charset="0"/>
                <a:ea typeface="Calibri" pitchFamily="34" charset="-122"/>
                <a:cs typeface="Calibri" pitchFamily="34" charset="-120"/>
              </a:rPr>
              <a:t>Useful for extending LLM hallucination research beyond text-only systems.</a:t>
            </a:r>
            <a:endParaRPr lang="en-US" sz="1150" dirty="0"/>
          </a:p>
        </p:txBody>
      </p:sp>
      <p:sp>
        <p:nvSpPr>
          <p:cNvPr id="6" name="Text 4"/>
          <p:cNvSpPr txBox="1"/>
          <p:nvPr/>
        </p:nvSpPr>
        <p:spPr>
          <a:xfrm>
            <a:off x="11338560" y="6400800"/>
            <a:ext cx="457200" cy="274320"/>
          </a:xfrm>
          <a:prstGeom prst="rect">
            <a:avLst/>
          </a:prstGeom>
          <a:noFill/>
          <a:ln/>
        </p:spPr>
        <p:txBody>
          <a:bodyPr wrap="square" lIns="0" tIns="0" rIns="0" bIns="0" rtlCol="0" anchor="ctr"/>
          <a:lstStyle/>
          <a:p>
            <a:pPr marL="0" indent="0" algn="r">
              <a:buNone/>
            </a:pPr>
            <a:r>
              <a:rPr lang="en-US" sz="1000" dirty="0">
                <a:solidFill>
                  <a:srgbClr val="555555"/>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0040"/>
            <a:ext cx="11064240" cy="274320"/>
          </a:xfrm>
          <a:prstGeom prst="rect">
            <a:avLst/>
          </a:prstGeom>
          <a:noFill/>
          <a:ln/>
        </p:spPr>
        <p:txBody>
          <a:bodyPr wrap="square" lIns="0" tIns="0" rIns="0" bIns="0" rtlCol="0" anchor="ctr"/>
          <a:lstStyle/>
          <a:p>
            <a:pPr marL="0" indent="0">
              <a:buNone/>
            </a:pPr>
            <a:r>
              <a:rPr lang="en-US" sz="1200" dirty="0">
                <a:solidFill>
                  <a:srgbClr val="555555"/>
                </a:solidFill>
                <a:latin typeface="Calibri" pitchFamily="34" charset="0"/>
                <a:ea typeface="Calibri" pitchFamily="34" charset="-122"/>
                <a:cs typeface="Calibri" pitchFamily="34" charset="-120"/>
              </a:rPr>
              <a:t>Paper 13 of 20</a:t>
            </a:r>
            <a:endParaRPr lang="en-US" sz="1200" dirty="0"/>
          </a:p>
        </p:txBody>
      </p:sp>
      <p:sp>
        <p:nvSpPr>
          <p:cNvPr id="3" name="Text 1"/>
          <p:cNvSpPr txBox="1"/>
          <p:nvPr/>
        </p:nvSpPr>
        <p:spPr>
          <a:xfrm>
            <a:off x="548640" y="594360"/>
            <a:ext cx="11064240" cy="777240"/>
          </a:xfrm>
          <a:prstGeom prst="rect">
            <a:avLst/>
          </a:prstGeom>
          <a:noFill/>
          <a:ln/>
        </p:spPr>
        <p:txBody>
          <a:bodyPr wrap="square" lIns="0" tIns="0" rIns="0" bIns="0" rtlCol="0" anchor="t"/>
          <a:lstStyle/>
          <a:p>
            <a:pPr marL="0" indent="0">
              <a:buNone/>
            </a:pPr>
            <a:r>
              <a:rPr lang="en-US" sz="1900" b="1" dirty="0">
                <a:solidFill>
                  <a:srgbClr val="1A1A1A"/>
                </a:solidFill>
                <a:latin typeface="Calibri" pitchFamily="34" charset="0"/>
                <a:ea typeface="Calibri" pitchFamily="34" charset="-122"/>
                <a:cs typeface="Calibri" pitchFamily="34" charset="-120"/>
              </a:rPr>
              <a:t>HaluGNN: Hallucination detection in large language models using graph neural network</a:t>
            </a:r>
            <a:endParaRPr lang="en-US" sz="1900" dirty="0"/>
          </a:p>
        </p:txBody>
      </p:sp>
      <p:sp>
        <p:nvSpPr>
          <p:cNvPr id="4" name="Text 2"/>
          <p:cNvSpPr txBox="1"/>
          <p:nvPr/>
        </p:nvSpPr>
        <p:spPr>
          <a:xfrm>
            <a:off x="548640" y="1463040"/>
            <a:ext cx="5394960" cy="5029200"/>
          </a:xfrm>
          <a:prstGeom prst="rect">
            <a:avLst/>
          </a:prstGeom>
          <a:noFill/>
          <a:ln/>
        </p:spPr>
        <p:txBody>
          <a:bodyPr wrap="square" lIns="0" tIns="0" rIns="0" bIns="0" rtlCol="0" anchor="t"/>
          <a:lstStyle/>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Authors: </a:t>
            </a:r>
            <a:r>
              <a:rPr lang="en-US" sz="1150" dirty="0">
                <a:solidFill>
                  <a:srgbClr val="1A1A1A"/>
                </a:solidFill>
                <a:latin typeface="Calibri" pitchFamily="34" charset="0"/>
                <a:ea typeface="Calibri" pitchFamily="34" charset="-122"/>
                <a:cs typeface="Calibri" pitchFamily="34" charset="-120"/>
              </a:rPr>
              <a:t>Linggang Kong, Yunlong Zhang, Xiaofeng Zhong, Haoran Fu, Yongjie Wang, Huijun Liu</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Year: </a:t>
            </a:r>
            <a:r>
              <a:rPr lang="en-US" sz="1150" dirty="0">
                <a:solidFill>
                  <a:srgbClr val="1A1A1A"/>
                </a:solidFill>
                <a:latin typeface="Calibri" pitchFamily="34" charset="0"/>
                <a:ea typeface="Calibri" pitchFamily="34" charset="-122"/>
                <a:cs typeface="Calibri" pitchFamily="34" charset="-120"/>
              </a:rPr>
              <a:t>2026</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Journal: </a:t>
            </a:r>
            <a:r>
              <a:rPr lang="en-US" sz="1150" dirty="0">
                <a:solidFill>
                  <a:srgbClr val="1A1A1A"/>
                </a:solidFill>
                <a:latin typeface="Calibri" pitchFamily="34" charset="0"/>
                <a:ea typeface="Calibri" pitchFamily="34" charset="-122"/>
                <a:cs typeface="Calibri" pitchFamily="34" charset="-120"/>
              </a:rPr>
              <a:t>Expert Systems with Applications</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Publisher: </a:t>
            </a:r>
            <a:r>
              <a:rPr lang="en-US" sz="1150" dirty="0">
                <a:solidFill>
                  <a:srgbClr val="1A1A1A"/>
                </a:solidFill>
                <a:latin typeface="Calibri" pitchFamily="34" charset="0"/>
                <a:ea typeface="Calibri" pitchFamily="34" charset="-122"/>
                <a:cs typeface="Calibri" pitchFamily="34" charset="-120"/>
              </a:rPr>
              <a:t>Elsevier</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Study Type: </a:t>
            </a:r>
            <a:r>
              <a:rPr lang="en-US" sz="1150" dirty="0">
                <a:solidFill>
                  <a:srgbClr val="1A1A1A"/>
                </a:solidFill>
                <a:latin typeface="Calibri" pitchFamily="34" charset="0"/>
                <a:ea typeface="Calibri" pitchFamily="34" charset="-122"/>
                <a:cs typeface="Calibri" pitchFamily="34" charset="-120"/>
              </a:rPr>
              <a:t>Hallucination detection</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Hallucination Focus: </a:t>
            </a:r>
            <a:r>
              <a:rPr lang="en-US" sz="1150" dirty="0">
                <a:solidFill>
                  <a:srgbClr val="1A1A1A"/>
                </a:solidFill>
                <a:latin typeface="Calibri" pitchFamily="34" charset="0"/>
                <a:ea typeface="Calibri" pitchFamily="34" charset="-122"/>
                <a:cs typeface="Calibri" pitchFamily="34" charset="-120"/>
              </a:rPr>
              <a:t>Internal-state / graph-based detection</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Indexing: </a:t>
            </a:r>
            <a:r>
              <a:rPr lang="en-US" sz="1150" dirty="0">
                <a:solidFill>
                  <a:srgbClr val="1A1A1A"/>
                </a:solidFill>
                <a:latin typeface="Calibri" pitchFamily="34" charset="0"/>
                <a:ea typeface="Calibri" pitchFamily="34" charset="-122"/>
                <a:cs typeface="Calibri" pitchFamily="34" charset="-120"/>
              </a:rPr>
              <a:t>Yes, SCIE, Q1</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Source URL: </a:t>
            </a:r>
            <a:r>
              <a:rPr lang="en-US" sz="1150" dirty="0">
                <a:solidFill>
                  <a:srgbClr val="1A1A1A"/>
                </a:solidFill>
                <a:latin typeface="Calibri" pitchFamily="34" charset="0"/>
                <a:ea typeface="Calibri" pitchFamily="34" charset="-122"/>
                <a:cs typeface="Calibri" pitchFamily="34" charset="-120"/>
              </a:rPr>
              <a:t>https://www.sciencedirect.com/science/article/abs/pii/S0957417425044720</a:t>
            </a:r>
            <a:endParaRPr lang="en-US" sz="1150" dirty="0"/>
          </a:p>
        </p:txBody>
      </p:sp>
      <p:sp>
        <p:nvSpPr>
          <p:cNvPr id="5" name="Text 3"/>
          <p:cNvSpPr txBox="1"/>
          <p:nvPr/>
        </p:nvSpPr>
        <p:spPr>
          <a:xfrm>
            <a:off x="6172200" y="1463040"/>
            <a:ext cx="5440680" cy="5029200"/>
          </a:xfrm>
          <a:prstGeom prst="rect">
            <a:avLst/>
          </a:prstGeom>
          <a:noFill/>
          <a:ln/>
        </p:spPr>
        <p:txBody>
          <a:bodyPr wrap="square" lIns="0" tIns="0" rIns="0" bIns="0" rtlCol="0" anchor="t"/>
          <a:lstStyle/>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Method: </a:t>
            </a:r>
            <a:r>
              <a:rPr lang="en-US" sz="1150" dirty="0">
                <a:solidFill>
                  <a:srgbClr val="1A1A1A"/>
                </a:solidFill>
                <a:latin typeface="Calibri" pitchFamily="34" charset="0"/>
                <a:ea typeface="Calibri" pitchFamily="34" charset="-122"/>
                <a:cs typeface="Calibri" pitchFamily="34" charset="-120"/>
              </a:rPr>
              <a:t>Represents relationships in LLM internal information as graphs and applies GNN-based classification for hallucination detection.</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Key Finding: </a:t>
            </a:r>
            <a:r>
              <a:rPr lang="en-US" sz="1150" dirty="0">
                <a:solidFill>
                  <a:srgbClr val="1A1A1A"/>
                </a:solidFill>
                <a:latin typeface="Calibri" pitchFamily="34" charset="0"/>
                <a:ea typeface="Calibri" pitchFamily="34" charset="-122"/>
                <a:cs typeface="Calibri" pitchFamily="34" charset="-120"/>
              </a:rPr>
              <a:t>Graph structure can capture relational patterns missed by simple static hidden-state classifiers.</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Research Gap: </a:t>
            </a:r>
            <a:r>
              <a:rPr lang="en-US" sz="1150" dirty="0">
                <a:solidFill>
                  <a:srgbClr val="1A1A1A"/>
                </a:solidFill>
                <a:latin typeface="Calibri" pitchFamily="34" charset="0"/>
                <a:ea typeface="Calibri" pitchFamily="34" charset="-122"/>
                <a:cs typeface="Calibri" pitchFamily="34" charset="-120"/>
              </a:rPr>
              <a:t>Requires white-box/internal access and task-specific training; robustness across architectures and model updates is uncertain.</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Significance: </a:t>
            </a:r>
            <a:r>
              <a:rPr lang="en-US" sz="1150" dirty="0">
                <a:solidFill>
                  <a:srgbClr val="1A1A1A"/>
                </a:solidFill>
                <a:latin typeface="Calibri" pitchFamily="34" charset="0"/>
                <a:ea typeface="Calibri" pitchFamily="34" charset="-122"/>
                <a:cs typeface="Calibri" pitchFamily="34" charset="-120"/>
              </a:rPr>
              <a:t>Strong candidate for hybrid internal-state and evidence-based detection.</a:t>
            </a:r>
            <a:endParaRPr lang="en-US" sz="1150" dirty="0"/>
          </a:p>
        </p:txBody>
      </p:sp>
      <p:sp>
        <p:nvSpPr>
          <p:cNvPr id="6" name="Text 4"/>
          <p:cNvSpPr txBox="1"/>
          <p:nvPr/>
        </p:nvSpPr>
        <p:spPr>
          <a:xfrm>
            <a:off x="11338560" y="6400800"/>
            <a:ext cx="457200" cy="274320"/>
          </a:xfrm>
          <a:prstGeom prst="rect">
            <a:avLst/>
          </a:prstGeom>
          <a:noFill/>
          <a:ln/>
        </p:spPr>
        <p:txBody>
          <a:bodyPr wrap="square" lIns="0" tIns="0" rIns="0" bIns="0" rtlCol="0" anchor="ctr"/>
          <a:lstStyle/>
          <a:p>
            <a:pPr marL="0" indent="0" algn="r">
              <a:buNone/>
            </a:pPr>
            <a:r>
              <a:rPr lang="en-US" sz="1000" dirty="0">
                <a:solidFill>
                  <a:srgbClr val="555555"/>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0040"/>
            <a:ext cx="11064240" cy="274320"/>
          </a:xfrm>
          <a:prstGeom prst="rect">
            <a:avLst/>
          </a:prstGeom>
          <a:noFill/>
          <a:ln/>
        </p:spPr>
        <p:txBody>
          <a:bodyPr wrap="square" lIns="0" tIns="0" rIns="0" bIns="0" rtlCol="0" anchor="ctr"/>
          <a:lstStyle/>
          <a:p>
            <a:pPr marL="0" indent="0">
              <a:buNone/>
            </a:pPr>
            <a:r>
              <a:rPr lang="en-US" sz="1200" dirty="0">
                <a:solidFill>
                  <a:srgbClr val="555555"/>
                </a:solidFill>
                <a:latin typeface="Calibri" pitchFamily="34" charset="0"/>
                <a:ea typeface="Calibri" pitchFamily="34" charset="-122"/>
                <a:cs typeface="Calibri" pitchFamily="34" charset="-120"/>
              </a:rPr>
              <a:t>Paper 14 of 20</a:t>
            </a:r>
            <a:endParaRPr lang="en-US" sz="1200" dirty="0"/>
          </a:p>
        </p:txBody>
      </p:sp>
      <p:sp>
        <p:nvSpPr>
          <p:cNvPr id="3" name="Text 1"/>
          <p:cNvSpPr txBox="1"/>
          <p:nvPr/>
        </p:nvSpPr>
        <p:spPr>
          <a:xfrm>
            <a:off x="548640" y="594360"/>
            <a:ext cx="11064240" cy="777240"/>
          </a:xfrm>
          <a:prstGeom prst="rect">
            <a:avLst/>
          </a:prstGeom>
          <a:noFill/>
          <a:ln/>
        </p:spPr>
        <p:txBody>
          <a:bodyPr wrap="square" lIns="0" tIns="0" rIns="0" bIns="0" rtlCol="0" anchor="t"/>
          <a:lstStyle/>
          <a:p>
            <a:pPr marL="0" indent="0">
              <a:buNone/>
            </a:pPr>
            <a:r>
              <a:rPr lang="en-US" sz="1900" b="1" dirty="0">
                <a:solidFill>
                  <a:srgbClr val="1A1A1A"/>
                </a:solidFill>
                <a:latin typeface="Calibri" pitchFamily="34" charset="0"/>
                <a:ea typeface="Calibri" pitchFamily="34" charset="-122"/>
                <a:cs typeface="Calibri" pitchFamily="34" charset="-120"/>
              </a:rPr>
              <a:t>Large language modeling of hallucinatory problem mitigation based on the wheel of emotions</a:t>
            </a:r>
            <a:endParaRPr lang="en-US" sz="1900" dirty="0"/>
          </a:p>
        </p:txBody>
      </p:sp>
      <p:sp>
        <p:nvSpPr>
          <p:cNvPr id="4" name="Text 2"/>
          <p:cNvSpPr txBox="1"/>
          <p:nvPr/>
        </p:nvSpPr>
        <p:spPr>
          <a:xfrm>
            <a:off x="548640" y="1463040"/>
            <a:ext cx="5394960" cy="5029200"/>
          </a:xfrm>
          <a:prstGeom prst="rect">
            <a:avLst/>
          </a:prstGeom>
          <a:noFill/>
          <a:ln/>
        </p:spPr>
        <p:txBody>
          <a:bodyPr wrap="square" lIns="0" tIns="0" rIns="0" bIns="0" rtlCol="0" anchor="t"/>
          <a:lstStyle/>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Authors: </a:t>
            </a:r>
            <a:r>
              <a:rPr lang="en-US" sz="1150" dirty="0">
                <a:solidFill>
                  <a:srgbClr val="1A1A1A"/>
                </a:solidFill>
                <a:latin typeface="Calibri" pitchFamily="34" charset="0"/>
                <a:ea typeface="Calibri" pitchFamily="34" charset="-122"/>
                <a:cs typeface="Calibri" pitchFamily="34" charset="-120"/>
              </a:rPr>
              <a:t>Zhenyu Wang, Jianmin Wang, Zenan Lu, Fang You</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Year: </a:t>
            </a:r>
            <a:r>
              <a:rPr lang="en-US" sz="1150" dirty="0">
                <a:solidFill>
                  <a:srgbClr val="1A1A1A"/>
                </a:solidFill>
                <a:latin typeface="Calibri" pitchFamily="34" charset="0"/>
                <a:ea typeface="Calibri" pitchFamily="34" charset="-122"/>
                <a:cs typeface="Calibri" pitchFamily="34" charset="-120"/>
              </a:rPr>
              <a:t>2026</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Journal: </a:t>
            </a:r>
            <a:r>
              <a:rPr lang="en-US" sz="1150" dirty="0">
                <a:solidFill>
                  <a:srgbClr val="1A1A1A"/>
                </a:solidFill>
                <a:latin typeface="Calibri" pitchFamily="34" charset="0"/>
                <a:ea typeface="Calibri" pitchFamily="34" charset="-122"/>
                <a:cs typeface="Calibri" pitchFamily="34" charset="-120"/>
              </a:rPr>
              <a:t>Neural Networks</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Publisher: </a:t>
            </a:r>
            <a:r>
              <a:rPr lang="en-US" sz="1150" dirty="0">
                <a:solidFill>
                  <a:srgbClr val="1A1A1A"/>
                </a:solidFill>
                <a:latin typeface="Calibri" pitchFamily="34" charset="0"/>
                <a:ea typeface="Calibri" pitchFamily="34" charset="-122"/>
                <a:cs typeface="Calibri" pitchFamily="34" charset="-120"/>
              </a:rPr>
              <a:t>Elsevier</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Study Type: </a:t>
            </a:r>
            <a:r>
              <a:rPr lang="en-US" sz="1150" dirty="0">
                <a:solidFill>
                  <a:srgbClr val="1A1A1A"/>
                </a:solidFill>
                <a:latin typeface="Calibri" pitchFamily="34" charset="0"/>
                <a:ea typeface="Calibri" pitchFamily="34" charset="-122"/>
                <a:cs typeface="Calibri" pitchFamily="34" charset="-120"/>
              </a:rPr>
              <a:t>Hallucination mitigation</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Hallucination Focus: </a:t>
            </a:r>
            <a:r>
              <a:rPr lang="en-US" sz="1150" dirty="0">
                <a:solidFill>
                  <a:srgbClr val="1A1A1A"/>
                </a:solidFill>
                <a:latin typeface="Calibri" pitchFamily="34" charset="0"/>
                <a:ea typeface="Calibri" pitchFamily="34" charset="-122"/>
                <a:cs typeface="Calibri" pitchFamily="34" charset="-120"/>
              </a:rPr>
              <a:t>Generation control / emotion-inspired representation</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Indexing: </a:t>
            </a:r>
            <a:r>
              <a:rPr lang="en-US" sz="1150" dirty="0">
                <a:solidFill>
                  <a:srgbClr val="1A1A1A"/>
                </a:solidFill>
                <a:latin typeface="Calibri" pitchFamily="34" charset="0"/>
                <a:ea typeface="Calibri" pitchFamily="34" charset="-122"/>
                <a:cs typeface="Calibri" pitchFamily="34" charset="-120"/>
              </a:rPr>
              <a:t>Yes, SCIE, Q1</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Source URL: </a:t>
            </a:r>
            <a:r>
              <a:rPr lang="en-US" sz="1150" dirty="0">
                <a:solidFill>
                  <a:srgbClr val="1A1A1A"/>
                </a:solidFill>
                <a:latin typeface="Calibri" pitchFamily="34" charset="0"/>
                <a:ea typeface="Calibri" pitchFamily="34" charset="-122"/>
                <a:cs typeface="Calibri" pitchFamily="34" charset="-120"/>
              </a:rPr>
              <a:t>https://www.sciencedirect.com/science/article/abs/pii/S0893608025008779</a:t>
            </a:r>
            <a:endParaRPr lang="en-US" sz="1150" dirty="0"/>
          </a:p>
        </p:txBody>
      </p:sp>
      <p:sp>
        <p:nvSpPr>
          <p:cNvPr id="5" name="Text 3"/>
          <p:cNvSpPr txBox="1"/>
          <p:nvPr/>
        </p:nvSpPr>
        <p:spPr>
          <a:xfrm>
            <a:off x="6172200" y="1463040"/>
            <a:ext cx="5440680" cy="5029200"/>
          </a:xfrm>
          <a:prstGeom prst="rect">
            <a:avLst/>
          </a:prstGeom>
          <a:noFill/>
          <a:ln/>
        </p:spPr>
        <p:txBody>
          <a:bodyPr wrap="square" lIns="0" tIns="0" rIns="0" bIns="0" rtlCol="0" anchor="t"/>
          <a:lstStyle/>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Method: </a:t>
            </a:r>
            <a:r>
              <a:rPr lang="en-US" sz="1150" dirty="0">
                <a:solidFill>
                  <a:srgbClr val="1A1A1A"/>
                </a:solidFill>
                <a:latin typeface="Calibri" pitchFamily="34" charset="0"/>
                <a:ea typeface="Calibri" pitchFamily="34" charset="-122"/>
                <a:cs typeface="Calibri" pitchFamily="34" charset="-120"/>
              </a:rPr>
              <a:t>Proposes a wheel-of-emotions-inspired strategy to model and mitigate hallucinatory generation behavior.</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Key Finding: </a:t>
            </a:r>
            <a:r>
              <a:rPr lang="en-US" sz="1150" dirty="0">
                <a:solidFill>
                  <a:srgbClr val="1A1A1A"/>
                </a:solidFill>
                <a:latin typeface="Calibri" pitchFamily="34" charset="0"/>
                <a:ea typeface="Calibri" pitchFamily="34" charset="-122"/>
                <a:cs typeface="Calibri" pitchFamily="34" charset="-120"/>
              </a:rPr>
              <a:t>Reports improved mitigation performance through structured control of generation signals.</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Research Gap: </a:t>
            </a:r>
            <a:r>
              <a:rPr lang="en-US" sz="1150" dirty="0">
                <a:solidFill>
                  <a:srgbClr val="1A1A1A"/>
                </a:solidFill>
                <a:latin typeface="Calibri" pitchFamily="34" charset="0"/>
                <a:ea typeface="Calibri" pitchFamily="34" charset="-122"/>
                <a:cs typeface="Calibri" pitchFamily="34" charset="-120"/>
              </a:rPr>
              <a:t>The mechanism is specialized and needs independent replication, broader benchmarks and comparison against modern RAG/verifier baselines.</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Significance: </a:t>
            </a:r>
            <a:r>
              <a:rPr lang="en-US" sz="1150" dirty="0">
                <a:solidFill>
                  <a:srgbClr val="1A1A1A"/>
                </a:solidFill>
                <a:latin typeface="Calibri" pitchFamily="34" charset="0"/>
                <a:ea typeface="Calibri" pitchFamily="34" charset="-122"/>
                <a:cs typeface="Calibri" pitchFamily="34" charset="-120"/>
              </a:rPr>
              <a:t>Useful as an alternative mitigation family beyond retrieval and simple self-checking.</a:t>
            </a:r>
            <a:endParaRPr lang="en-US" sz="1150" dirty="0"/>
          </a:p>
        </p:txBody>
      </p:sp>
      <p:sp>
        <p:nvSpPr>
          <p:cNvPr id="6" name="Text 4"/>
          <p:cNvSpPr txBox="1"/>
          <p:nvPr/>
        </p:nvSpPr>
        <p:spPr>
          <a:xfrm>
            <a:off x="11338560" y="6400800"/>
            <a:ext cx="457200" cy="274320"/>
          </a:xfrm>
          <a:prstGeom prst="rect">
            <a:avLst/>
          </a:prstGeom>
          <a:noFill/>
          <a:ln/>
        </p:spPr>
        <p:txBody>
          <a:bodyPr wrap="square" lIns="0" tIns="0" rIns="0" bIns="0" rtlCol="0" anchor="ctr"/>
          <a:lstStyle/>
          <a:p>
            <a:pPr marL="0" indent="0" algn="r">
              <a:buNone/>
            </a:pPr>
            <a:r>
              <a:rPr lang="en-US" sz="1000" dirty="0">
                <a:solidFill>
                  <a:srgbClr val="555555"/>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20040"/>
            <a:ext cx="11064240" cy="274320"/>
          </a:xfrm>
          <a:prstGeom prst="rect">
            <a:avLst/>
          </a:prstGeom>
          <a:noFill/>
          <a:ln/>
        </p:spPr>
        <p:txBody>
          <a:bodyPr wrap="square" lIns="0" tIns="0" rIns="0" bIns="0" rtlCol="0" anchor="ctr"/>
          <a:lstStyle/>
          <a:p>
            <a:pPr marL="0" indent="0">
              <a:buNone/>
            </a:pPr>
            <a:r>
              <a:rPr lang="en-US" sz="1200" dirty="0">
                <a:solidFill>
                  <a:srgbClr val="555555"/>
                </a:solidFill>
                <a:latin typeface="Calibri" pitchFamily="34" charset="0"/>
                <a:ea typeface="Calibri" pitchFamily="34" charset="-122"/>
                <a:cs typeface="Calibri" pitchFamily="34" charset="-120"/>
              </a:rPr>
              <a:t>Paper 15 of 20</a:t>
            </a:r>
            <a:endParaRPr lang="en-US" sz="1200" dirty="0"/>
          </a:p>
        </p:txBody>
      </p:sp>
      <p:sp>
        <p:nvSpPr>
          <p:cNvPr id="3" name="Text 1"/>
          <p:cNvSpPr txBox="1"/>
          <p:nvPr/>
        </p:nvSpPr>
        <p:spPr>
          <a:xfrm>
            <a:off x="548640" y="594360"/>
            <a:ext cx="11064240" cy="777240"/>
          </a:xfrm>
          <a:prstGeom prst="rect">
            <a:avLst/>
          </a:prstGeom>
          <a:noFill/>
          <a:ln/>
        </p:spPr>
        <p:txBody>
          <a:bodyPr wrap="square" lIns="0" tIns="0" rIns="0" bIns="0" rtlCol="0" anchor="t"/>
          <a:lstStyle/>
          <a:p>
            <a:pPr marL="0" indent="0">
              <a:buNone/>
            </a:pPr>
            <a:r>
              <a:rPr lang="en-US" sz="1900" b="1" dirty="0">
                <a:solidFill>
                  <a:srgbClr val="1A1A1A"/>
                </a:solidFill>
                <a:latin typeface="Calibri" pitchFamily="34" charset="0"/>
                <a:ea typeface="Calibri" pitchFamily="34" charset="-122"/>
                <a:cs typeface="Calibri" pitchFamily="34" charset="-120"/>
              </a:rPr>
              <a:t>Hallucination to truth: a review of fact-checking and factuality evaluation in large language models</a:t>
            </a:r>
            <a:endParaRPr lang="en-US" sz="1900" dirty="0"/>
          </a:p>
        </p:txBody>
      </p:sp>
      <p:sp>
        <p:nvSpPr>
          <p:cNvPr id="4" name="Text 2"/>
          <p:cNvSpPr txBox="1"/>
          <p:nvPr/>
        </p:nvSpPr>
        <p:spPr>
          <a:xfrm>
            <a:off x="548640" y="1463040"/>
            <a:ext cx="5394960" cy="5029200"/>
          </a:xfrm>
          <a:prstGeom prst="rect">
            <a:avLst/>
          </a:prstGeom>
          <a:noFill/>
          <a:ln/>
        </p:spPr>
        <p:txBody>
          <a:bodyPr wrap="square" lIns="0" tIns="0" rIns="0" bIns="0" rtlCol="0" anchor="t"/>
          <a:lstStyle/>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Authors: </a:t>
            </a:r>
            <a:r>
              <a:rPr lang="en-US" sz="1150" dirty="0">
                <a:solidFill>
                  <a:srgbClr val="1A1A1A"/>
                </a:solidFill>
                <a:latin typeface="Calibri" pitchFamily="34" charset="0"/>
                <a:ea typeface="Calibri" pitchFamily="34" charset="-122"/>
                <a:cs typeface="Calibri" pitchFamily="34" charset="-120"/>
              </a:rPr>
              <a:t>S. S. Rahman, M. A. Islam, M. M. Alam, et al.</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Year: </a:t>
            </a:r>
            <a:r>
              <a:rPr lang="en-US" sz="1150" dirty="0">
                <a:solidFill>
                  <a:srgbClr val="1A1A1A"/>
                </a:solidFill>
                <a:latin typeface="Calibri" pitchFamily="34" charset="0"/>
                <a:ea typeface="Calibri" pitchFamily="34" charset="-122"/>
                <a:cs typeface="Calibri" pitchFamily="34" charset="-120"/>
              </a:rPr>
              <a:t>2026</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Journal: </a:t>
            </a:r>
            <a:r>
              <a:rPr lang="en-US" sz="1150" dirty="0">
                <a:solidFill>
                  <a:srgbClr val="1A1A1A"/>
                </a:solidFill>
                <a:latin typeface="Calibri" pitchFamily="34" charset="0"/>
                <a:ea typeface="Calibri" pitchFamily="34" charset="-122"/>
                <a:cs typeface="Calibri" pitchFamily="34" charset="-120"/>
              </a:rPr>
              <a:t>Artificial Intelligence Review</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Publisher: </a:t>
            </a:r>
            <a:r>
              <a:rPr lang="en-US" sz="1150" dirty="0">
                <a:solidFill>
                  <a:srgbClr val="1A1A1A"/>
                </a:solidFill>
                <a:latin typeface="Calibri" pitchFamily="34" charset="0"/>
                <a:ea typeface="Calibri" pitchFamily="34" charset="-122"/>
                <a:cs typeface="Calibri" pitchFamily="34" charset="-120"/>
              </a:rPr>
              <a:t>Springer Nature</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Study Type: </a:t>
            </a:r>
            <a:r>
              <a:rPr lang="en-US" sz="1150" dirty="0">
                <a:solidFill>
                  <a:srgbClr val="1A1A1A"/>
                </a:solidFill>
                <a:latin typeface="Calibri" pitchFamily="34" charset="0"/>
                <a:ea typeface="Calibri" pitchFamily="34" charset="-122"/>
                <a:cs typeface="Calibri" pitchFamily="34" charset="-120"/>
              </a:rPr>
              <a:t>Review</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Hallucination Focus: </a:t>
            </a:r>
            <a:r>
              <a:rPr lang="en-US" sz="1150" dirty="0">
                <a:solidFill>
                  <a:srgbClr val="1A1A1A"/>
                </a:solidFill>
                <a:latin typeface="Calibri" pitchFamily="34" charset="0"/>
                <a:ea typeface="Calibri" pitchFamily="34" charset="-122"/>
                <a:cs typeface="Calibri" pitchFamily="34" charset="-120"/>
              </a:rPr>
              <a:t>Fact-checking / factuality evaluation</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Indexing: </a:t>
            </a:r>
            <a:r>
              <a:rPr lang="en-US" sz="1150" dirty="0">
                <a:solidFill>
                  <a:srgbClr val="1A1A1A"/>
                </a:solidFill>
                <a:latin typeface="Calibri" pitchFamily="34" charset="0"/>
                <a:ea typeface="Calibri" pitchFamily="34" charset="-122"/>
                <a:cs typeface="Calibri" pitchFamily="34" charset="-120"/>
              </a:rPr>
              <a:t>Yes, SCIE, Q1</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Source URL: </a:t>
            </a:r>
            <a:r>
              <a:rPr lang="en-US" sz="1150" dirty="0">
                <a:solidFill>
                  <a:srgbClr val="1A1A1A"/>
                </a:solidFill>
                <a:latin typeface="Calibri" pitchFamily="34" charset="0"/>
                <a:ea typeface="Calibri" pitchFamily="34" charset="-122"/>
                <a:cs typeface="Calibri" pitchFamily="34" charset="-120"/>
              </a:rPr>
              <a:t>https://link.springer.com/article/10.1007/s10462-025-11454-w</a:t>
            </a:r>
            <a:endParaRPr lang="en-US" sz="1150" dirty="0"/>
          </a:p>
        </p:txBody>
      </p:sp>
      <p:sp>
        <p:nvSpPr>
          <p:cNvPr id="5" name="Text 3"/>
          <p:cNvSpPr txBox="1"/>
          <p:nvPr/>
        </p:nvSpPr>
        <p:spPr>
          <a:xfrm>
            <a:off x="6172200" y="1463040"/>
            <a:ext cx="5440680" cy="5029200"/>
          </a:xfrm>
          <a:prstGeom prst="rect">
            <a:avLst/>
          </a:prstGeom>
          <a:noFill/>
          <a:ln/>
        </p:spPr>
        <p:txBody>
          <a:bodyPr wrap="square" lIns="0" tIns="0" rIns="0" bIns="0" rtlCol="0" anchor="t"/>
          <a:lstStyle/>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Method: </a:t>
            </a:r>
            <a:r>
              <a:rPr lang="en-US" sz="1150" dirty="0">
                <a:solidFill>
                  <a:srgbClr val="1A1A1A"/>
                </a:solidFill>
                <a:latin typeface="Calibri" pitchFamily="34" charset="0"/>
                <a:ea typeface="Calibri" pitchFamily="34" charset="-122"/>
                <a:cs typeface="Calibri" pitchFamily="34" charset="-120"/>
              </a:rPr>
              <a:t>Synthesizes LLM factuality evaluation, fact-checking, retrieval, verification and hallucination mitigation literature.</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Key Finding: </a:t>
            </a:r>
            <a:r>
              <a:rPr lang="en-US" sz="1150" dirty="0">
                <a:solidFill>
                  <a:srgbClr val="1A1A1A"/>
                </a:solidFill>
                <a:latin typeface="Calibri" pitchFamily="34" charset="0"/>
                <a:ea typeface="Calibri" pitchFamily="34" charset="-122"/>
                <a:cs typeface="Calibri" pitchFamily="34" charset="-120"/>
              </a:rPr>
              <a:t>Connects hallucination research with the broader fact-checking pipeline and evaluation ecosystem.</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Research Gap: </a:t>
            </a:r>
            <a:r>
              <a:rPr lang="en-US" sz="1150" dirty="0">
                <a:solidFill>
                  <a:srgbClr val="1A1A1A"/>
                </a:solidFill>
                <a:latin typeface="Calibri" pitchFamily="34" charset="0"/>
                <a:ea typeface="Calibri" pitchFamily="34" charset="-122"/>
                <a:cs typeface="Calibri" pitchFamily="34" charset="-120"/>
              </a:rPr>
              <a:t>Field lacks universal claim-level metrics, consistent benchmark definitions and reliable verifier calibration.</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Significance: </a:t>
            </a:r>
            <a:r>
              <a:rPr lang="en-US" sz="1150" dirty="0">
                <a:solidFill>
                  <a:srgbClr val="1A1A1A"/>
                </a:solidFill>
                <a:latin typeface="Calibri" pitchFamily="34" charset="0"/>
                <a:ea typeface="Calibri" pitchFamily="34" charset="-122"/>
                <a:cs typeface="Calibri" pitchFamily="34" charset="-120"/>
              </a:rPr>
              <a:t>Excellent foundation for identifying open gaps in evidence-grounded verification.</a:t>
            </a:r>
            <a:endParaRPr lang="en-US" sz="1150" dirty="0"/>
          </a:p>
        </p:txBody>
      </p:sp>
      <p:sp>
        <p:nvSpPr>
          <p:cNvPr id="6" name="Text 4"/>
          <p:cNvSpPr txBox="1"/>
          <p:nvPr/>
        </p:nvSpPr>
        <p:spPr>
          <a:xfrm>
            <a:off x="11338560" y="6400800"/>
            <a:ext cx="457200" cy="274320"/>
          </a:xfrm>
          <a:prstGeom prst="rect">
            <a:avLst/>
          </a:prstGeom>
          <a:noFill/>
          <a:ln/>
        </p:spPr>
        <p:txBody>
          <a:bodyPr wrap="square" lIns="0" tIns="0" rIns="0" bIns="0" rtlCol="0" anchor="ctr"/>
          <a:lstStyle/>
          <a:p>
            <a:pPr marL="0" indent="0" algn="r">
              <a:buNone/>
            </a:pPr>
            <a:r>
              <a:rPr lang="en-US" sz="1000" dirty="0">
                <a:solidFill>
                  <a:srgbClr val="555555"/>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20040"/>
            <a:ext cx="11064240" cy="274320"/>
          </a:xfrm>
          <a:prstGeom prst="rect">
            <a:avLst/>
          </a:prstGeom>
          <a:noFill/>
          <a:ln/>
        </p:spPr>
        <p:txBody>
          <a:bodyPr wrap="square" lIns="0" tIns="0" rIns="0" bIns="0" rtlCol="0" anchor="ctr"/>
          <a:lstStyle/>
          <a:p>
            <a:pPr marL="0" indent="0">
              <a:buNone/>
            </a:pPr>
            <a:r>
              <a:rPr lang="en-US" sz="1200" dirty="0">
                <a:solidFill>
                  <a:srgbClr val="555555"/>
                </a:solidFill>
                <a:latin typeface="Calibri" pitchFamily="34" charset="0"/>
                <a:ea typeface="Calibri" pitchFamily="34" charset="-122"/>
                <a:cs typeface="Calibri" pitchFamily="34" charset="-120"/>
              </a:rPr>
              <a:t>Paper 16 of 20</a:t>
            </a:r>
            <a:endParaRPr lang="en-US" sz="1200" dirty="0"/>
          </a:p>
        </p:txBody>
      </p:sp>
      <p:sp>
        <p:nvSpPr>
          <p:cNvPr id="3" name="Text 1"/>
          <p:cNvSpPr txBox="1"/>
          <p:nvPr/>
        </p:nvSpPr>
        <p:spPr>
          <a:xfrm>
            <a:off x="548640" y="594360"/>
            <a:ext cx="11064240" cy="777240"/>
          </a:xfrm>
          <a:prstGeom prst="rect">
            <a:avLst/>
          </a:prstGeom>
          <a:noFill/>
          <a:ln/>
        </p:spPr>
        <p:txBody>
          <a:bodyPr wrap="square" lIns="0" tIns="0" rIns="0" bIns="0" rtlCol="0" anchor="t"/>
          <a:lstStyle/>
          <a:p>
            <a:pPr marL="0" indent="0">
              <a:buNone/>
            </a:pPr>
            <a:r>
              <a:rPr lang="en-US" sz="1900" b="1" dirty="0">
                <a:solidFill>
                  <a:srgbClr val="1A1A1A"/>
                </a:solidFill>
                <a:latin typeface="Calibri" pitchFamily="34" charset="0"/>
                <a:ea typeface="Calibri" pitchFamily="34" charset="-122"/>
                <a:cs typeface="Calibri" pitchFamily="34" charset="-120"/>
              </a:rPr>
              <a:t>Large language models hallucination: A comprehensive survey</a:t>
            </a:r>
            <a:endParaRPr lang="en-US" sz="1900" dirty="0"/>
          </a:p>
        </p:txBody>
      </p:sp>
      <p:sp>
        <p:nvSpPr>
          <p:cNvPr id="4" name="Text 2"/>
          <p:cNvSpPr txBox="1"/>
          <p:nvPr/>
        </p:nvSpPr>
        <p:spPr>
          <a:xfrm>
            <a:off x="548640" y="1463040"/>
            <a:ext cx="5394960" cy="5029200"/>
          </a:xfrm>
          <a:prstGeom prst="rect">
            <a:avLst/>
          </a:prstGeom>
          <a:noFill/>
          <a:ln/>
        </p:spPr>
        <p:txBody>
          <a:bodyPr wrap="square" lIns="0" tIns="0" rIns="0" bIns="0" rtlCol="0" anchor="t"/>
          <a:lstStyle/>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Authors: </a:t>
            </a:r>
            <a:r>
              <a:rPr lang="en-US" sz="1150" dirty="0">
                <a:solidFill>
                  <a:srgbClr val="1A1A1A"/>
                </a:solidFill>
                <a:latin typeface="Calibri" pitchFamily="34" charset="0"/>
                <a:ea typeface="Calibri" pitchFamily="34" charset="-122"/>
                <a:cs typeface="Calibri" pitchFamily="34" charset="-120"/>
              </a:rPr>
              <a:t>Aisha Alansari, Hamzah Luqman</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Year: </a:t>
            </a:r>
            <a:r>
              <a:rPr lang="en-US" sz="1150" dirty="0">
                <a:solidFill>
                  <a:srgbClr val="1A1A1A"/>
                </a:solidFill>
                <a:latin typeface="Calibri" pitchFamily="34" charset="0"/>
                <a:ea typeface="Calibri" pitchFamily="34" charset="-122"/>
                <a:cs typeface="Calibri" pitchFamily="34" charset="-120"/>
              </a:rPr>
              <a:t>2026</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Journal: </a:t>
            </a:r>
            <a:r>
              <a:rPr lang="en-US" sz="1150" dirty="0">
                <a:solidFill>
                  <a:srgbClr val="1A1A1A"/>
                </a:solidFill>
                <a:latin typeface="Calibri" pitchFamily="34" charset="0"/>
                <a:ea typeface="Calibri" pitchFamily="34" charset="-122"/>
                <a:cs typeface="Calibri" pitchFamily="34" charset="-120"/>
              </a:rPr>
              <a:t>Computer Science Review</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Publisher: </a:t>
            </a:r>
            <a:r>
              <a:rPr lang="en-US" sz="1150" dirty="0">
                <a:solidFill>
                  <a:srgbClr val="1A1A1A"/>
                </a:solidFill>
                <a:latin typeface="Calibri" pitchFamily="34" charset="0"/>
                <a:ea typeface="Calibri" pitchFamily="34" charset="-122"/>
                <a:cs typeface="Calibri" pitchFamily="34" charset="-120"/>
              </a:rPr>
              <a:t>Elsevier</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Study Type: </a:t>
            </a:r>
            <a:r>
              <a:rPr lang="en-US" sz="1150" dirty="0">
                <a:solidFill>
                  <a:srgbClr val="1A1A1A"/>
                </a:solidFill>
                <a:latin typeface="Calibri" pitchFamily="34" charset="0"/>
                <a:ea typeface="Calibri" pitchFamily="34" charset="-122"/>
                <a:cs typeface="Calibri" pitchFamily="34" charset="-120"/>
              </a:rPr>
              <a:t>Comprehensive survey</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Hallucination Focus: </a:t>
            </a:r>
            <a:r>
              <a:rPr lang="en-US" sz="1150" dirty="0">
                <a:solidFill>
                  <a:srgbClr val="1A1A1A"/>
                </a:solidFill>
                <a:latin typeface="Calibri" pitchFamily="34" charset="0"/>
                <a:ea typeface="Calibri" pitchFamily="34" charset="-122"/>
                <a:cs typeface="Calibri" pitchFamily="34" charset="-120"/>
              </a:rPr>
              <a:t>Causes, detection, metrics, mitigation</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Indexing: </a:t>
            </a:r>
            <a:r>
              <a:rPr lang="en-US" sz="1150" dirty="0">
                <a:solidFill>
                  <a:srgbClr val="1A1A1A"/>
                </a:solidFill>
                <a:latin typeface="Calibri" pitchFamily="34" charset="0"/>
                <a:ea typeface="Calibri" pitchFamily="34" charset="-122"/>
                <a:cs typeface="Calibri" pitchFamily="34" charset="-120"/>
              </a:rPr>
              <a:t>Yes, SCIE, Q1</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Source URL: </a:t>
            </a:r>
            <a:r>
              <a:rPr lang="en-US" sz="1150" dirty="0">
                <a:solidFill>
                  <a:srgbClr val="1A1A1A"/>
                </a:solidFill>
                <a:latin typeface="Calibri" pitchFamily="34" charset="0"/>
                <a:ea typeface="Calibri" pitchFamily="34" charset="-122"/>
                <a:cs typeface="Calibri" pitchFamily="34" charset="-120"/>
              </a:rPr>
              <a:t>https://www.sciencedirect.com/science/article/abs/pii/S157401372600078X</a:t>
            </a:r>
            <a:endParaRPr lang="en-US" sz="1150" dirty="0"/>
          </a:p>
        </p:txBody>
      </p:sp>
      <p:sp>
        <p:nvSpPr>
          <p:cNvPr id="5" name="Text 3"/>
          <p:cNvSpPr txBox="1"/>
          <p:nvPr/>
        </p:nvSpPr>
        <p:spPr>
          <a:xfrm>
            <a:off x="6172200" y="1463040"/>
            <a:ext cx="5440680" cy="5029200"/>
          </a:xfrm>
          <a:prstGeom prst="rect">
            <a:avLst/>
          </a:prstGeom>
          <a:noFill/>
          <a:ln/>
        </p:spPr>
        <p:txBody>
          <a:bodyPr wrap="square" lIns="0" tIns="0" rIns="0" bIns="0" rtlCol="0" anchor="t"/>
          <a:lstStyle/>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Method: </a:t>
            </a:r>
            <a:r>
              <a:rPr lang="en-US" sz="1150" dirty="0">
                <a:solidFill>
                  <a:srgbClr val="1A1A1A"/>
                </a:solidFill>
                <a:latin typeface="Calibri" pitchFamily="34" charset="0"/>
                <a:ea typeface="Calibri" pitchFamily="34" charset="-122"/>
                <a:cs typeface="Calibri" pitchFamily="34" charset="-120"/>
              </a:rPr>
              <a:t>Provides a lifecycle-oriented taxonomy of causes, detection approaches, mitigation strategies, benchmarks and evaluation metrics.</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Key Finding: </a:t>
            </a:r>
            <a:r>
              <a:rPr lang="en-US" sz="1150" dirty="0">
                <a:solidFill>
                  <a:srgbClr val="1A1A1A"/>
                </a:solidFill>
                <a:latin typeface="Calibri" pitchFamily="34" charset="0"/>
                <a:ea typeface="Calibri" pitchFamily="34" charset="-122"/>
                <a:cs typeface="Calibri" pitchFamily="34" charset="-120"/>
              </a:rPr>
              <a:t>Offers a current consolidated map of hallucination research across the LLM development and inference lifecycle.</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Research Gap: </a:t>
            </a:r>
            <a:r>
              <a:rPr lang="en-US" sz="1150" dirty="0">
                <a:solidFill>
                  <a:srgbClr val="1A1A1A"/>
                </a:solidFill>
                <a:latin typeface="Calibri" pitchFamily="34" charset="0"/>
                <a:ea typeface="Calibri" pitchFamily="34" charset="-122"/>
                <a:cs typeface="Calibri" pitchFamily="34" charset="-120"/>
              </a:rPr>
              <a:t>Taxonomy is broad but mostly synthesizes existing methods; agentic/RAG systems need continuously updated benchmarks.</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Significance: </a:t>
            </a:r>
            <a:r>
              <a:rPr lang="en-US" sz="1150" dirty="0">
                <a:solidFill>
                  <a:srgbClr val="1A1A1A"/>
                </a:solidFill>
                <a:latin typeface="Calibri" pitchFamily="34" charset="0"/>
                <a:ea typeface="Calibri" pitchFamily="34" charset="-122"/>
                <a:cs typeface="Calibri" pitchFamily="34" charset="-120"/>
              </a:rPr>
              <a:t>Best recent survey for framing a thesis or paper literature review.</a:t>
            </a:r>
            <a:endParaRPr lang="en-US" sz="1150" dirty="0"/>
          </a:p>
        </p:txBody>
      </p:sp>
      <p:sp>
        <p:nvSpPr>
          <p:cNvPr id="6" name="Text 4"/>
          <p:cNvSpPr txBox="1"/>
          <p:nvPr/>
        </p:nvSpPr>
        <p:spPr>
          <a:xfrm>
            <a:off x="11338560" y="6400800"/>
            <a:ext cx="457200" cy="274320"/>
          </a:xfrm>
          <a:prstGeom prst="rect">
            <a:avLst/>
          </a:prstGeom>
          <a:noFill/>
          <a:ln/>
        </p:spPr>
        <p:txBody>
          <a:bodyPr wrap="square" lIns="0" tIns="0" rIns="0" bIns="0" rtlCol="0" anchor="ctr"/>
          <a:lstStyle/>
          <a:p>
            <a:pPr marL="0" indent="0" algn="r">
              <a:buNone/>
            </a:pPr>
            <a:r>
              <a:rPr lang="en-US" sz="1000" dirty="0">
                <a:solidFill>
                  <a:srgbClr val="555555"/>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20040"/>
            <a:ext cx="11064240" cy="274320"/>
          </a:xfrm>
          <a:prstGeom prst="rect">
            <a:avLst/>
          </a:prstGeom>
          <a:noFill/>
          <a:ln/>
        </p:spPr>
        <p:txBody>
          <a:bodyPr wrap="square" lIns="0" tIns="0" rIns="0" bIns="0" rtlCol="0" anchor="ctr"/>
          <a:lstStyle/>
          <a:p>
            <a:pPr marL="0" indent="0">
              <a:buNone/>
            </a:pPr>
            <a:r>
              <a:rPr lang="en-US" sz="1200" dirty="0">
                <a:solidFill>
                  <a:srgbClr val="555555"/>
                </a:solidFill>
                <a:latin typeface="Calibri" pitchFamily="34" charset="0"/>
                <a:ea typeface="Calibri" pitchFamily="34" charset="-122"/>
                <a:cs typeface="Calibri" pitchFamily="34" charset="-120"/>
              </a:rPr>
              <a:t>Paper 17 of 20</a:t>
            </a:r>
            <a:endParaRPr lang="en-US" sz="1200" dirty="0"/>
          </a:p>
        </p:txBody>
      </p:sp>
      <p:sp>
        <p:nvSpPr>
          <p:cNvPr id="3" name="Text 1"/>
          <p:cNvSpPr txBox="1"/>
          <p:nvPr/>
        </p:nvSpPr>
        <p:spPr>
          <a:xfrm>
            <a:off x="548640" y="594360"/>
            <a:ext cx="11064240" cy="777240"/>
          </a:xfrm>
          <a:prstGeom prst="rect">
            <a:avLst/>
          </a:prstGeom>
          <a:noFill/>
          <a:ln/>
        </p:spPr>
        <p:txBody>
          <a:bodyPr wrap="square" lIns="0" tIns="0" rIns="0" bIns="0" rtlCol="0" anchor="t"/>
          <a:lstStyle/>
          <a:p>
            <a:pPr marL="0" indent="0">
              <a:buNone/>
            </a:pPr>
            <a:r>
              <a:rPr lang="en-US" sz="1900" b="1" dirty="0">
                <a:solidFill>
                  <a:srgbClr val="1A1A1A"/>
                </a:solidFill>
                <a:latin typeface="Calibri" pitchFamily="34" charset="0"/>
                <a:ea typeface="Calibri" pitchFamily="34" charset="-122"/>
                <a:cs typeface="Calibri" pitchFamily="34" charset="-120"/>
              </a:rPr>
              <a:t>Evaluating large language models for accuracy and hallucination</a:t>
            </a:r>
            <a:endParaRPr lang="en-US" sz="1900" dirty="0"/>
          </a:p>
        </p:txBody>
      </p:sp>
      <p:sp>
        <p:nvSpPr>
          <p:cNvPr id="4" name="Text 2"/>
          <p:cNvSpPr txBox="1"/>
          <p:nvPr/>
        </p:nvSpPr>
        <p:spPr>
          <a:xfrm>
            <a:off x="548640" y="1463040"/>
            <a:ext cx="5394960" cy="5029200"/>
          </a:xfrm>
          <a:prstGeom prst="rect">
            <a:avLst/>
          </a:prstGeom>
          <a:noFill/>
          <a:ln/>
        </p:spPr>
        <p:txBody>
          <a:bodyPr wrap="square" lIns="0" tIns="0" rIns="0" bIns="0" rtlCol="0" anchor="t"/>
          <a:lstStyle/>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Authors: </a:t>
            </a:r>
            <a:r>
              <a:rPr lang="en-US" sz="1150" dirty="0">
                <a:solidFill>
                  <a:srgbClr val="1A1A1A"/>
                </a:solidFill>
                <a:latin typeface="Calibri" pitchFamily="34" charset="0"/>
                <a:ea typeface="Calibri" pitchFamily="34" charset="-122"/>
                <a:cs typeface="Calibri" pitchFamily="34" charset="-120"/>
              </a:rPr>
              <a:t>A. T. Kalai, et al.</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Year: </a:t>
            </a:r>
            <a:r>
              <a:rPr lang="en-US" sz="1150" dirty="0">
                <a:solidFill>
                  <a:srgbClr val="1A1A1A"/>
                </a:solidFill>
                <a:latin typeface="Calibri" pitchFamily="34" charset="0"/>
                <a:ea typeface="Calibri" pitchFamily="34" charset="-122"/>
                <a:cs typeface="Calibri" pitchFamily="34" charset="-120"/>
              </a:rPr>
              <a:t>2026</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Journal: </a:t>
            </a:r>
            <a:r>
              <a:rPr lang="en-US" sz="1150" dirty="0">
                <a:solidFill>
                  <a:srgbClr val="1A1A1A"/>
                </a:solidFill>
                <a:latin typeface="Calibri" pitchFamily="34" charset="0"/>
                <a:ea typeface="Calibri" pitchFamily="34" charset="-122"/>
                <a:cs typeface="Calibri" pitchFamily="34" charset="-120"/>
              </a:rPr>
              <a:t>Nature</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Publisher: </a:t>
            </a:r>
            <a:r>
              <a:rPr lang="en-US" sz="1150" dirty="0">
                <a:solidFill>
                  <a:srgbClr val="1A1A1A"/>
                </a:solidFill>
                <a:latin typeface="Calibri" pitchFamily="34" charset="0"/>
                <a:ea typeface="Calibri" pitchFamily="34" charset="-122"/>
                <a:cs typeface="Calibri" pitchFamily="34" charset="-120"/>
              </a:rPr>
              <a:t>Springer Nature</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Study Type: </a:t>
            </a:r>
            <a:r>
              <a:rPr lang="en-US" sz="1150" dirty="0">
                <a:solidFill>
                  <a:srgbClr val="1A1A1A"/>
                </a:solidFill>
                <a:latin typeface="Calibri" pitchFamily="34" charset="0"/>
                <a:ea typeface="Calibri" pitchFamily="34" charset="-122"/>
                <a:cs typeface="Calibri" pitchFamily="34" charset="-120"/>
              </a:rPr>
              <a:t>Theory + evaluation</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Hallucination Focus: </a:t>
            </a:r>
            <a:r>
              <a:rPr lang="en-US" sz="1150" dirty="0">
                <a:solidFill>
                  <a:srgbClr val="1A1A1A"/>
                </a:solidFill>
                <a:latin typeface="Calibri" pitchFamily="34" charset="0"/>
                <a:ea typeface="Calibri" pitchFamily="34" charset="-122"/>
                <a:cs typeface="Calibri" pitchFamily="34" charset="-120"/>
              </a:rPr>
              <a:t>Why models hallucinate / guessing incentives</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Indexing: </a:t>
            </a:r>
            <a:r>
              <a:rPr lang="en-US" sz="1150" dirty="0">
                <a:solidFill>
                  <a:srgbClr val="1A1A1A"/>
                </a:solidFill>
                <a:latin typeface="Calibri" pitchFamily="34" charset="0"/>
                <a:ea typeface="Calibri" pitchFamily="34" charset="-122"/>
                <a:cs typeface="Calibri" pitchFamily="34" charset="-120"/>
              </a:rPr>
              <a:t>Yes, SCIE, Q1</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Source URL: </a:t>
            </a:r>
            <a:r>
              <a:rPr lang="en-US" sz="1150" dirty="0">
                <a:solidFill>
                  <a:srgbClr val="1A1A1A"/>
                </a:solidFill>
                <a:latin typeface="Calibri" pitchFamily="34" charset="0"/>
                <a:ea typeface="Calibri" pitchFamily="34" charset="-122"/>
                <a:cs typeface="Calibri" pitchFamily="34" charset="-120"/>
              </a:rPr>
              <a:t>https://www.nature.com/articles/s41586-026-10549-w</a:t>
            </a:r>
            <a:endParaRPr lang="en-US" sz="1150" dirty="0"/>
          </a:p>
        </p:txBody>
      </p:sp>
      <p:sp>
        <p:nvSpPr>
          <p:cNvPr id="5" name="Text 3"/>
          <p:cNvSpPr txBox="1"/>
          <p:nvPr/>
        </p:nvSpPr>
        <p:spPr>
          <a:xfrm>
            <a:off x="6172200" y="1463040"/>
            <a:ext cx="5440680" cy="5029200"/>
          </a:xfrm>
          <a:prstGeom prst="rect">
            <a:avLst/>
          </a:prstGeom>
          <a:noFill/>
          <a:ln/>
        </p:spPr>
        <p:txBody>
          <a:bodyPr wrap="square" lIns="0" tIns="0" rIns="0" bIns="0" rtlCol="0" anchor="t"/>
          <a:lstStyle/>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Method: </a:t>
            </a:r>
            <a:r>
              <a:rPr lang="en-US" sz="1150" dirty="0">
                <a:solidFill>
                  <a:srgbClr val="1A1A1A"/>
                </a:solidFill>
                <a:latin typeface="Calibri" pitchFamily="34" charset="0"/>
                <a:ea typeface="Calibri" pitchFamily="34" charset="-122"/>
                <a:cs typeface="Calibri" pitchFamily="34" charset="-120"/>
              </a:rPr>
              <a:t>Uses learning-theoretic analysis and evaluation studies showing next-token prediction and accuracy benchmarks can incentivize guessing over calibrated abstention.</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Key Finding: </a:t>
            </a:r>
            <a:r>
              <a:rPr lang="en-US" sz="1150" dirty="0">
                <a:solidFill>
                  <a:srgbClr val="1A1A1A"/>
                </a:solidFill>
                <a:latin typeface="Calibri" pitchFamily="34" charset="0"/>
                <a:ea typeface="Calibri" pitchFamily="34" charset="-122"/>
                <a:cs typeface="Calibri" pitchFamily="34" charset="-120"/>
              </a:rPr>
              <a:t>Hallucination is partly driven by training/evaluation incentives; models should be rewarded for acknowledging uncertainty.</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Research Gap: </a:t>
            </a:r>
            <a:r>
              <a:rPr lang="en-US" sz="1150" dirty="0">
                <a:solidFill>
                  <a:srgbClr val="1A1A1A"/>
                </a:solidFill>
                <a:latin typeface="Calibri" pitchFamily="34" charset="0"/>
                <a:ea typeface="Calibri" pitchFamily="34" charset="-122"/>
                <a:cs typeface="Calibri" pitchFamily="34" charset="-120"/>
              </a:rPr>
              <a:t>Does not by itself provide a complete production-ready detector/repair system; calibrated abstention under distribution shift is still open.</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Significance: </a:t>
            </a:r>
            <a:r>
              <a:rPr lang="en-US" sz="1150" dirty="0">
                <a:solidFill>
                  <a:srgbClr val="1A1A1A"/>
                </a:solidFill>
                <a:latin typeface="Calibri" pitchFamily="34" charset="0"/>
                <a:ea typeface="Calibri" pitchFamily="34" charset="-122"/>
                <a:cs typeface="Calibri" pitchFamily="34" charset="-120"/>
              </a:rPr>
              <a:t>Important theoretical basis for uncertainty-aware abstention mechanisms.</a:t>
            </a:r>
            <a:endParaRPr lang="en-US" sz="1150" dirty="0"/>
          </a:p>
        </p:txBody>
      </p:sp>
      <p:sp>
        <p:nvSpPr>
          <p:cNvPr id="6" name="Text 4"/>
          <p:cNvSpPr txBox="1"/>
          <p:nvPr/>
        </p:nvSpPr>
        <p:spPr>
          <a:xfrm>
            <a:off x="11338560" y="6400800"/>
            <a:ext cx="457200" cy="274320"/>
          </a:xfrm>
          <a:prstGeom prst="rect">
            <a:avLst/>
          </a:prstGeom>
          <a:noFill/>
          <a:ln/>
        </p:spPr>
        <p:txBody>
          <a:bodyPr wrap="square" lIns="0" tIns="0" rIns="0" bIns="0" rtlCol="0" anchor="ctr"/>
          <a:lstStyle/>
          <a:p>
            <a:pPr marL="0" indent="0" algn="r">
              <a:buNone/>
            </a:pPr>
            <a:r>
              <a:rPr lang="en-US" sz="1000" dirty="0">
                <a:solidFill>
                  <a:srgbClr val="555555"/>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20040"/>
            <a:ext cx="11064240" cy="274320"/>
          </a:xfrm>
          <a:prstGeom prst="rect">
            <a:avLst/>
          </a:prstGeom>
          <a:noFill/>
          <a:ln/>
        </p:spPr>
        <p:txBody>
          <a:bodyPr wrap="square" lIns="0" tIns="0" rIns="0" bIns="0" rtlCol="0" anchor="ctr"/>
          <a:lstStyle/>
          <a:p>
            <a:pPr marL="0" indent="0">
              <a:buNone/>
            </a:pPr>
            <a:r>
              <a:rPr lang="en-US" sz="1200" dirty="0">
                <a:solidFill>
                  <a:srgbClr val="555555"/>
                </a:solidFill>
                <a:latin typeface="Calibri" pitchFamily="34" charset="0"/>
                <a:ea typeface="Calibri" pitchFamily="34" charset="-122"/>
                <a:cs typeface="Calibri" pitchFamily="34" charset="-120"/>
              </a:rPr>
              <a:t>Paper 18 of 20</a:t>
            </a:r>
            <a:endParaRPr lang="en-US" sz="1200" dirty="0"/>
          </a:p>
        </p:txBody>
      </p:sp>
      <p:sp>
        <p:nvSpPr>
          <p:cNvPr id="3" name="Text 1"/>
          <p:cNvSpPr txBox="1"/>
          <p:nvPr/>
        </p:nvSpPr>
        <p:spPr>
          <a:xfrm>
            <a:off x="548640" y="594360"/>
            <a:ext cx="11064240" cy="777240"/>
          </a:xfrm>
          <a:prstGeom prst="rect">
            <a:avLst/>
          </a:prstGeom>
          <a:noFill/>
          <a:ln/>
        </p:spPr>
        <p:txBody>
          <a:bodyPr wrap="square" lIns="0" tIns="0" rIns="0" bIns="0" rtlCol="0" anchor="t"/>
          <a:lstStyle/>
          <a:p>
            <a:pPr marL="0" indent="0">
              <a:buNone/>
            </a:pPr>
            <a:r>
              <a:rPr lang="en-US" sz="1900" b="1" dirty="0">
                <a:solidFill>
                  <a:srgbClr val="1A1A1A"/>
                </a:solidFill>
                <a:latin typeface="Calibri" pitchFamily="34" charset="0"/>
                <a:ea typeface="Calibri" pitchFamily="34" charset="-122"/>
                <a:cs typeface="Calibri" pitchFamily="34" charset="-120"/>
              </a:rPr>
              <a:t>Hyper-RAG: combating LLM hallucinations using hypergraph-driven retrieval-augmented generation</a:t>
            </a:r>
            <a:endParaRPr lang="en-US" sz="1900" dirty="0"/>
          </a:p>
        </p:txBody>
      </p:sp>
      <p:sp>
        <p:nvSpPr>
          <p:cNvPr id="4" name="Text 2"/>
          <p:cNvSpPr txBox="1"/>
          <p:nvPr/>
        </p:nvSpPr>
        <p:spPr>
          <a:xfrm>
            <a:off x="548640" y="1463040"/>
            <a:ext cx="5394960" cy="5029200"/>
          </a:xfrm>
          <a:prstGeom prst="rect">
            <a:avLst/>
          </a:prstGeom>
          <a:noFill/>
          <a:ln/>
        </p:spPr>
        <p:txBody>
          <a:bodyPr wrap="square" lIns="0" tIns="0" rIns="0" bIns="0" rtlCol="0" anchor="t"/>
          <a:lstStyle/>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Authors: </a:t>
            </a:r>
            <a:r>
              <a:rPr lang="en-US" sz="1150" dirty="0">
                <a:solidFill>
                  <a:srgbClr val="1A1A1A"/>
                </a:solidFill>
                <a:latin typeface="Calibri" pitchFamily="34" charset="0"/>
                <a:ea typeface="Calibri" pitchFamily="34" charset="-122"/>
                <a:cs typeface="Calibri" pitchFamily="34" charset="-120"/>
              </a:rPr>
              <a:t>Yifan Feng, Hao Hu, Shihui Ying, Xingliang Hou, Shiquan Liu, et al.</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Year: </a:t>
            </a:r>
            <a:r>
              <a:rPr lang="en-US" sz="1150" dirty="0">
                <a:solidFill>
                  <a:srgbClr val="1A1A1A"/>
                </a:solidFill>
                <a:latin typeface="Calibri" pitchFamily="34" charset="0"/>
                <a:ea typeface="Calibri" pitchFamily="34" charset="-122"/>
                <a:cs typeface="Calibri" pitchFamily="34" charset="-120"/>
              </a:rPr>
              <a:t>2026</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Journal: </a:t>
            </a:r>
            <a:r>
              <a:rPr lang="en-US" sz="1150" dirty="0">
                <a:solidFill>
                  <a:srgbClr val="1A1A1A"/>
                </a:solidFill>
                <a:latin typeface="Calibri" pitchFamily="34" charset="0"/>
                <a:ea typeface="Calibri" pitchFamily="34" charset="-122"/>
                <a:cs typeface="Calibri" pitchFamily="34" charset="-120"/>
              </a:rPr>
              <a:t>Nature Communications</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Publisher: </a:t>
            </a:r>
            <a:r>
              <a:rPr lang="en-US" sz="1150" dirty="0">
                <a:solidFill>
                  <a:srgbClr val="1A1A1A"/>
                </a:solidFill>
                <a:latin typeface="Calibri" pitchFamily="34" charset="0"/>
                <a:ea typeface="Calibri" pitchFamily="34" charset="-122"/>
                <a:cs typeface="Calibri" pitchFamily="34" charset="-120"/>
              </a:rPr>
              <a:t>Springer Nature</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Study Type: </a:t>
            </a:r>
            <a:r>
              <a:rPr lang="en-US" sz="1150" dirty="0">
                <a:solidFill>
                  <a:srgbClr val="1A1A1A"/>
                </a:solidFill>
                <a:latin typeface="Calibri" pitchFamily="34" charset="0"/>
                <a:ea typeface="Calibri" pitchFamily="34" charset="-122"/>
                <a:cs typeface="Calibri" pitchFamily="34" charset="-120"/>
              </a:rPr>
              <a:t>RAG mitigation</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Hallucination Focus: </a:t>
            </a:r>
            <a:r>
              <a:rPr lang="en-US" sz="1150" dirty="0">
                <a:solidFill>
                  <a:srgbClr val="1A1A1A"/>
                </a:solidFill>
                <a:latin typeface="Calibri" pitchFamily="34" charset="0"/>
                <a:ea typeface="Calibri" pitchFamily="34" charset="-122"/>
                <a:cs typeface="Calibri" pitchFamily="34" charset="-120"/>
              </a:rPr>
              <a:t>Knowledge-grounded hallucination</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Indexing: </a:t>
            </a:r>
            <a:r>
              <a:rPr lang="en-US" sz="1150" dirty="0">
                <a:solidFill>
                  <a:srgbClr val="1A1A1A"/>
                </a:solidFill>
                <a:latin typeface="Calibri" pitchFamily="34" charset="0"/>
                <a:ea typeface="Calibri" pitchFamily="34" charset="-122"/>
                <a:cs typeface="Calibri" pitchFamily="34" charset="-120"/>
              </a:rPr>
              <a:t>Yes, SCIE, Q1</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Source URL: </a:t>
            </a:r>
            <a:r>
              <a:rPr lang="en-US" sz="1150" dirty="0">
                <a:solidFill>
                  <a:srgbClr val="1A1A1A"/>
                </a:solidFill>
                <a:latin typeface="Calibri" pitchFamily="34" charset="0"/>
                <a:ea typeface="Calibri" pitchFamily="34" charset="-122"/>
                <a:cs typeface="Calibri" pitchFamily="34" charset="-120"/>
              </a:rPr>
              <a:t>https://www.nature.com/articles/s41467-026-71411-1</a:t>
            </a:r>
            <a:endParaRPr lang="en-US" sz="1150" dirty="0"/>
          </a:p>
        </p:txBody>
      </p:sp>
      <p:sp>
        <p:nvSpPr>
          <p:cNvPr id="5" name="Text 3"/>
          <p:cNvSpPr txBox="1"/>
          <p:nvPr/>
        </p:nvSpPr>
        <p:spPr>
          <a:xfrm>
            <a:off x="6172200" y="1463040"/>
            <a:ext cx="5440680" cy="5029200"/>
          </a:xfrm>
          <a:prstGeom prst="rect">
            <a:avLst/>
          </a:prstGeom>
          <a:noFill/>
          <a:ln/>
        </p:spPr>
        <p:txBody>
          <a:bodyPr wrap="square" lIns="0" tIns="0" rIns="0" bIns="0" rtlCol="0" anchor="t"/>
          <a:lstStyle/>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Method: </a:t>
            </a:r>
            <a:r>
              <a:rPr lang="en-US" sz="1150" dirty="0">
                <a:solidFill>
                  <a:srgbClr val="1A1A1A"/>
                </a:solidFill>
                <a:latin typeface="Calibri" pitchFamily="34" charset="0"/>
                <a:ea typeface="Calibri" pitchFamily="34" charset="-122"/>
                <a:cs typeface="Calibri" pitchFamily="34" charset="-120"/>
              </a:rPr>
              <a:t>Uses hypergraph-based retrieval to model higher-order relations among domain knowledge and improve grounding before generation.</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Key Finding: </a:t>
            </a:r>
            <a:r>
              <a:rPr lang="en-US" sz="1150" dirty="0">
                <a:solidFill>
                  <a:srgbClr val="1A1A1A"/>
                </a:solidFill>
                <a:latin typeface="Calibri" pitchFamily="34" charset="0"/>
                <a:ea typeface="Calibri" pitchFamily="34" charset="-122"/>
                <a:cs typeface="Calibri" pitchFamily="34" charset="-120"/>
              </a:rPr>
              <a:t>Lower hallucination/error propagation and better knowledge coverage than standard graph/vector RAG baselines.</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Research Gap: </a:t>
            </a:r>
            <a:r>
              <a:rPr lang="en-US" sz="1150" dirty="0">
                <a:solidFill>
                  <a:srgbClr val="1A1A1A"/>
                </a:solidFill>
                <a:latin typeface="Calibri" pitchFamily="34" charset="0"/>
                <a:ea typeface="Calibri" pitchFamily="34" charset="-122"/>
                <a:cs typeface="Calibri" pitchFamily="34" charset="-120"/>
              </a:rPr>
              <a:t>Depends on knowledge-base quality and retrieval construction; does not eliminate generation-side reasoning errors.</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Significance: </a:t>
            </a:r>
            <a:r>
              <a:rPr lang="en-US" sz="1150" dirty="0">
                <a:solidFill>
                  <a:srgbClr val="1A1A1A"/>
                </a:solidFill>
                <a:latin typeface="Calibri" pitchFamily="34" charset="0"/>
                <a:ea typeface="Calibri" pitchFamily="34" charset="-122"/>
                <a:cs typeface="Calibri" pitchFamily="34" charset="-120"/>
              </a:rPr>
              <a:t>Strong recent RAG baseline for domain-specialized hallucination mitigation.</a:t>
            </a:r>
            <a:endParaRPr lang="en-US" sz="1150" dirty="0"/>
          </a:p>
        </p:txBody>
      </p:sp>
      <p:sp>
        <p:nvSpPr>
          <p:cNvPr id="6" name="Text 4"/>
          <p:cNvSpPr txBox="1"/>
          <p:nvPr/>
        </p:nvSpPr>
        <p:spPr>
          <a:xfrm>
            <a:off x="11338560" y="6400800"/>
            <a:ext cx="457200" cy="274320"/>
          </a:xfrm>
          <a:prstGeom prst="rect">
            <a:avLst/>
          </a:prstGeom>
          <a:noFill/>
          <a:ln/>
        </p:spPr>
        <p:txBody>
          <a:bodyPr wrap="square" lIns="0" tIns="0" rIns="0" bIns="0" rtlCol="0" anchor="ctr"/>
          <a:lstStyle/>
          <a:p>
            <a:pPr marL="0" indent="0" algn="r">
              <a:buNone/>
            </a:pPr>
            <a:r>
              <a:rPr lang="en-US" sz="1000" dirty="0">
                <a:solidFill>
                  <a:srgbClr val="555555"/>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20040"/>
            <a:ext cx="11064240" cy="274320"/>
          </a:xfrm>
          <a:prstGeom prst="rect">
            <a:avLst/>
          </a:prstGeom>
          <a:noFill/>
          <a:ln/>
        </p:spPr>
        <p:txBody>
          <a:bodyPr wrap="square" lIns="0" tIns="0" rIns="0" bIns="0" rtlCol="0" anchor="ctr"/>
          <a:lstStyle/>
          <a:p>
            <a:pPr marL="0" indent="0">
              <a:buNone/>
            </a:pPr>
            <a:r>
              <a:rPr lang="en-US" sz="1200" dirty="0">
                <a:solidFill>
                  <a:srgbClr val="555555"/>
                </a:solidFill>
                <a:latin typeface="Calibri" pitchFamily="34" charset="0"/>
                <a:ea typeface="Calibri" pitchFamily="34" charset="-122"/>
                <a:cs typeface="Calibri" pitchFamily="34" charset="-120"/>
              </a:rPr>
              <a:t>Paper 19 of 20</a:t>
            </a:r>
            <a:endParaRPr lang="en-US" sz="1200" dirty="0"/>
          </a:p>
        </p:txBody>
      </p:sp>
      <p:sp>
        <p:nvSpPr>
          <p:cNvPr id="3" name="Text 1"/>
          <p:cNvSpPr txBox="1"/>
          <p:nvPr/>
        </p:nvSpPr>
        <p:spPr>
          <a:xfrm>
            <a:off x="548640" y="594360"/>
            <a:ext cx="11064240" cy="777240"/>
          </a:xfrm>
          <a:prstGeom prst="rect">
            <a:avLst/>
          </a:prstGeom>
          <a:noFill/>
          <a:ln/>
        </p:spPr>
        <p:txBody>
          <a:bodyPr wrap="square" lIns="0" tIns="0" rIns="0" bIns="0" rtlCol="0" anchor="t"/>
          <a:lstStyle/>
          <a:p>
            <a:pPr marL="0" indent="0">
              <a:buNone/>
            </a:pPr>
            <a:r>
              <a:rPr lang="en-US" sz="1900" b="1" dirty="0">
                <a:solidFill>
                  <a:srgbClr val="1A1A1A"/>
                </a:solidFill>
                <a:latin typeface="Calibri" pitchFamily="34" charset="0"/>
                <a:ea typeface="Calibri" pitchFamily="34" charset="-122"/>
                <a:cs typeface="Calibri" pitchFamily="34" charset="-120"/>
              </a:rPr>
              <a:t>Mitigating hallucinations in healthcare LLMs with granular fact-checking and domain-specific adaptation</a:t>
            </a:r>
            <a:endParaRPr lang="en-US" sz="1900" dirty="0"/>
          </a:p>
        </p:txBody>
      </p:sp>
      <p:sp>
        <p:nvSpPr>
          <p:cNvPr id="4" name="Text 2"/>
          <p:cNvSpPr txBox="1"/>
          <p:nvPr/>
        </p:nvSpPr>
        <p:spPr>
          <a:xfrm>
            <a:off x="548640" y="1463040"/>
            <a:ext cx="5394960" cy="5029200"/>
          </a:xfrm>
          <a:prstGeom prst="rect">
            <a:avLst/>
          </a:prstGeom>
          <a:noFill/>
          <a:ln/>
        </p:spPr>
        <p:txBody>
          <a:bodyPr wrap="square" lIns="0" tIns="0" rIns="0" bIns="0" rtlCol="0" anchor="t"/>
          <a:lstStyle/>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Authors: </a:t>
            </a:r>
            <a:r>
              <a:rPr lang="en-US" sz="1150" dirty="0">
                <a:solidFill>
                  <a:srgbClr val="1A1A1A"/>
                </a:solidFill>
                <a:latin typeface="Calibri" pitchFamily="34" charset="0"/>
                <a:ea typeface="Calibri" pitchFamily="34" charset="-122"/>
                <a:cs typeface="Calibri" pitchFamily="34" charset="-120"/>
              </a:rPr>
              <a:t>Musarrat Zeba, Abdullah Al Mamun, Kishoar Jahan Tithee, et al.</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Year: </a:t>
            </a:r>
            <a:r>
              <a:rPr lang="en-US" sz="1150" dirty="0">
                <a:solidFill>
                  <a:srgbClr val="1A1A1A"/>
                </a:solidFill>
                <a:latin typeface="Calibri" pitchFamily="34" charset="0"/>
                <a:ea typeface="Calibri" pitchFamily="34" charset="-122"/>
                <a:cs typeface="Calibri" pitchFamily="34" charset="-120"/>
              </a:rPr>
              <a:t>2026</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Journal: </a:t>
            </a:r>
            <a:r>
              <a:rPr lang="en-US" sz="1150" dirty="0">
                <a:solidFill>
                  <a:srgbClr val="1A1A1A"/>
                </a:solidFill>
                <a:latin typeface="Calibri" pitchFamily="34" charset="0"/>
                <a:ea typeface="Calibri" pitchFamily="34" charset="-122"/>
                <a:cs typeface="Calibri" pitchFamily="34" charset="-120"/>
              </a:rPr>
              <a:t>Expert Systems with Applications</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Publisher: </a:t>
            </a:r>
            <a:r>
              <a:rPr lang="en-US" sz="1150" dirty="0">
                <a:solidFill>
                  <a:srgbClr val="1A1A1A"/>
                </a:solidFill>
                <a:latin typeface="Calibri" pitchFamily="34" charset="0"/>
                <a:ea typeface="Calibri" pitchFamily="34" charset="-122"/>
                <a:cs typeface="Calibri" pitchFamily="34" charset="-120"/>
              </a:rPr>
              <a:t>Elsevier</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Study Type: </a:t>
            </a:r>
            <a:r>
              <a:rPr lang="en-US" sz="1150" dirty="0">
                <a:solidFill>
                  <a:srgbClr val="1A1A1A"/>
                </a:solidFill>
                <a:latin typeface="Calibri" pitchFamily="34" charset="0"/>
                <a:ea typeface="Calibri" pitchFamily="34" charset="-122"/>
                <a:cs typeface="Calibri" pitchFamily="34" charset="-120"/>
              </a:rPr>
              <a:t>Fact-checking + fine-tuning</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Hallucination Focus: </a:t>
            </a:r>
            <a:r>
              <a:rPr lang="en-US" sz="1150" dirty="0">
                <a:solidFill>
                  <a:srgbClr val="1A1A1A"/>
                </a:solidFill>
                <a:latin typeface="Calibri" pitchFamily="34" charset="0"/>
                <a:ea typeface="Calibri" pitchFamily="34" charset="-122"/>
                <a:cs typeface="Calibri" pitchFamily="34" charset="-120"/>
              </a:rPr>
              <a:t>Healthcare summarisation</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Indexing: </a:t>
            </a:r>
            <a:r>
              <a:rPr lang="en-US" sz="1150" dirty="0">
                <a:solidFill>
                  <a:srgbClr val="1A1A1A"/>
                </a:solidFill>
                <a:latin typeface="Calibri" pitchFamily="34" charset="0"/>
                <a:ea typeface="Calibri" pitchFamily="34" charset="-122"/>
                <a:cs typeface="Calibri" pitchFamily="34" charset="-120"/>
              </a:rPr>
              <a:t>Yes, SCIE, Q1</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Source URL: </a:t>
            </a:r>
            <a:r>
              <a:rPr lang="en-US" sz="1150" dirty="0">
                <a:solidFill>
                  <a:srgbClr val="1A1A1A"/>
                </a:solidFill>
                <a:latin typeface="Calibri" pitchFamily="34" charset="0"/>
                <a:ea typeface="Calibri" pitchFamily="34" charset="-122"/>
                <a:cs typeface="Calibri" pitchFamily="34" charset="-120"/>
              </a:rPr>
              <a:t>https://www.sciencedirect.com/science/article/pii/S0957417426018786</a:t>
            </a:r>
            <a:endParaRPr lang="en-US" sz="1150" dirty="0"/>
          </a:p>
        </p:txBody>
      </p:sp>
      <p:sp>
        <p:nvSpPr>
          <p:cNvPr id="5" name="Text 3"/>
          <p:cNvSpPr txBox="1"/>
          <p:nvPr/>
        </p:nvSpPr>
        <p:spPr>
          <a:xfrm>
            <a:off x="6172200" y="1463040"/>
            <a:ext cx="5440680" cy="5029200"/>
          </a:xfrm>
          <a:prstGeom prst="rect">
            <a:avLst/>
          </a:prstGeom>
          <a:noFill/>
          <a:ln/>
        </p:spPr>
        <p:txBody>
          <a:bodyPr wrap="square" lIns="0" tIns="0" rIns="0" bIns="0" rtlCol="0" anchor="t"/>
          <a:lstStyle/>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Method: </a:t>
            </a:r>
            <a:r>
              <a:rPr lang="en-US" sz="1150" dirty="0">
                <a:solidFill>
                  <a:srgbClr val="1A1A1A"/>
                </a:solidFill>
                <a:latin typeface="Calibri" pitchFamily="34" charset="0"/>
                <a:ea typeface="Calibri" pitchFamily="34" charset="-122"/>
                <a:cs typeface="Calibri" pitchFamily="34" charset="-120"/>
              </a:rPr>
              <a:t>Combines LoRA-based domain adaptation with an LLM-independent granular fact-checking module using numerical and logical validation against EHR facts.</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Key Finding: </a:t>
            </a:r>
            <a:r>
              <a:rPr lang="en-US" sz="1150" dirty="0">
                <a:solidFill>
                  <a:srgbClr val="1A1A1A"/>
                </a:solidFill>
                <a:latin typeface="Calibri" pitchFamily="34" charset="0"/>
                <a:ea typeface="Calibri" pitchFamily="34" charset="-122"/>
                <a:cs typeface="Calibri" pitchFamily="34" charset="-120"/>
              </a:rPr>
              <a:t>Strong proposition-level fact-checking performance; shows value of separating verifier logic from the generator.</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Research Gap: </a:t>
            </a:r>
            <a:r>
              <a:rPr lang="en-US" sz="1150" dirty="0">
                <a:solidFill>
                  <a:srgbClr val="1A1A1A"/>
                </a:solidFill>
                <a:latin typeface="Calibri" pitchFamily="34" charset="0"/>
                <a:ea typeface="Calibri" pitchFamily="34" charset="-122"/>
                <a:cs typeface="Calibri" pitchFamily="34" charset="-120"/>
              </a:rPr>
              <a:t>Evaluated mainly on MIMIC-III summaries; external clinical validation and formal safety guarantees are still missing.</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Significance: </a:t>
            </a:r>
            <a:r>
              <a:rPr lang="en-US" sz="1150" dirty="0">
                <a:solidFill>
                  <a:srgbClr val="1A1A1A"/>
                </a:solidFill>
                <a:latin typeface="Calibri" pitchFamily="34" charset="0"/>
                <a:ea typeface="Calibri" pitchFamily="34" charset="-122"/>
                <a:cs typeface="Calibri" pitchFamily="34" charset="-120"/>
              </a:rPr>
              <a:t>Very useful model for independent verification rather than self-checking by the same LLM.</a:t>
            </a:r>
            <a:endParaRPr lang="en-US" sz="1150" dirty="0"/>
          </a:p>
        </p:txBody>
      </p:sp>
      <p:sp>
        <p:nvSpPr>
          <p:cNvPr id="6" name="Text 4"/>
          <p:cNvSpPr txBox="1"/>
          <p:nvPr/>
        </p:nvSpPr>
        <p:spPr>
          <a:xfrm>
            <a:off x="11338560" y="6400800"/>
            <a:ext cx="457200" cy="274320"/>
          </a:xfrm>
          <a:prstGeom prst="rect">
            <a:avLst/>
          </a:prstGeom>
          <a:noFill/>
          <a:ln/>
        </p:spPr>
        <p:txBody>
          <a:bodyPr wrap="square" lIns="0" tIns="0" rIns="0" bIns="0" rtlCol="0" anchor="ctr"/>
          <a:lstStyle/>
          <a:p>
            <a:pPr marL="0" indent="0" algn="r">
              <a:buNone/>
            </a:pPr>
            <a:r>
              <a:rPr lang="en-US" sz="1000" dirty="0">
                <a:solidFill>
                  <a:srgbClr val="555555"/>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20040"/>
            <a:ext cx="11064240" cy="274320"/>
          </a:xfrm>
          <a:prstGeom prst="rect">
            <a:avLst/>
          </a:prstGeom>
          <a:noFill/>
          <a:ln/>
        </p:spPr>
        <p:txBody>
          <a:bodyPr wrap="square" lIns="0" tIns="0" rIns="0" bIns="0" rtlCol="0" anchor="ctr"/>
          <a:lstStyle/>
          <a:p>
            <a:pPr marL="0" indent="0">
              <a:buNone/>
            </a:pPr>
            <a:r>
              <a:rPr lang="en-US" sz="1200" dirty="0">
                <a:solidFill>
                  <a:srgbClr val="555555"/>
                </a:solidFill>
                <a:latin typeface="Calibri" pitchFamily="34" charset="0"/>
                <a:ea typeface="Calibri" pitchFamily="34" charset="-122"/>
                <a:cs typeface="Calibri" pitchFamily="34" charset="-120"/>
              </a:rPr>
              <a:t>Paper 20 of 20</a:t>
            </a:r>
            <a:endParaRPr lang="en-US" sz="1200" dirty="0"/>
          </a:p>
        </p:txBody>
      </p:sp>
      <p:sp>
        <p:nvSpPr>
          <p:cNvPr id="3" name="Text 1"/>
          <p:cNvSpPr txBox="1"/>
          <p:nvPr/>
        </p:nvSpPr>
        <p:spPr>
          <a:xfrm>
            <a:off x="548640" y="594360"/>
            <a:ext cx="11064240" cy="777240"/>
          </a:xfrm>
          <a:prstGeom prst="rect">
            <a:avLst/>
          </a:prstGeom>
          <a:noFill/>
          <a:ln/>
        </p:spPr>
        <p:txBody>
          <a:bodyPr wrap="square" lIns="0" tIns="0" rIns="0" bIns="0" rtlCol="0" anchor="t"/>
          <a:lstStyle/>
          <a:p>
            <a:pPr marL="0" indent="0">
              <a:buNone/>
            </a:pPr>
            <a:r>
              <a:rPr lang="en-US" sz="1900" b="1" dirty="0">
                <a:solidFill>
                  <a:srgbClr val="1A1A1A"/>
                </a:solidFill>
                <a:latin typeface="Calibri" pitchFamily="34" charset="0"/>
                <a:ea typeface="Calibri" pitchFamily="34" charset="-122"/>
                <a:cs typeface="Calibri" pitchFamily="34" charset="-120"/>
              </a:rPr>
              <a:t>A framework for hallucination mitigation in domain-specialized large language models with application to aviation maintenance decision support</a:t>
            </a:r>
            <a:endParaRPr lang="en-US" sz="1900" dirty="0"/>
          </a:p>
        </p:txBody>
      </p:sp>
      <p:sp>
        <p:nvSpPr>
          <p:cNvPr id="4" name="Text 2"/>
          <p:cNvSpPr txBox="1"/>
          <p:nvPr/>
        </p:nvSpPr>
        <p:spPr>
          <a:xfrm>
            <a:off x="548640" y="1463040"/>
            <a:ext cx="5394960" cy="5029200"/>
          </a:xfrm>
          <a:prstGeom prst="rect">
            <a:avLst/>
          </a:prstGeom>
          <a:noFill/>
          <a:ln/>
        </p:spPr>
        <p:txBody>
          <a:bodyPr wrap="square" lIns="0" tIns="0" rIns="0" bIns="0" rtlCol="0" anchor="t"/>
          <a:lstStyle/>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Authors: </a:t>
            </a:r>
            <a:r>
              <a:rPr lang="en-US" sz="1150" dirty="0">
                <a:solidFill>
                  <a:srgbClr val="1A1A1A"/>
                </a:solidFill>
                <a:latin typeface="Calibri" pitchFamily="34" charset="0"/>
                <a:ea typeface="Calibri" pitchFamily="34" charset="-122"/>
                <a:cs typeface="Calibri" pitchFamily="34" charset="-120"/>
              </a:rPr>
              <a:t>Xuanting Lu, et al.</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Year: </a:t>
            </a:r>
            <a:r>
              <a:rPr lang="en-US" sz="1150" dirty="0">
                <a:solidFill>
                  <a:srgbClr val="1A1A1A"/>
                </a:solidFill>
                <a:latin typeface="Calibri" pitchFamily="34" charset="0"/>
                <a:ea typeface="Calibri" pitchFamily="34" charset="-122"/>
                <a:cs typeface="Calibri" pitchFamily="34" charset="-120"/>
              </a:rPr>
              <a:t>2026</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Journal: </a:t>
            </a:r>
            <a:r>
              <a:rPr lang="en-US" sz="1150" dirty="0">
                <a:solidFill>
                  <a:srgbClr val="1A1A1A"/>
                </a:solidFill>
                <a:latin typeface="Calibri" pitchFamily="34" charset="0"/>
                <a:ea typeface="Calibri" pitchFamily="34" charset="-122"/>
                <a:cs typeface="Calibri" pitchFamily="34" charset="-120"/>
              </a:rPr>
              <a:t>Information Processing &amp; Management</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Publisher: </a:t>
            </a:r>
            <a:r>
              <a:rPr lang="en-US" sz="1150" dirty="0">
                <a:solidFill>
                  <a:srgbClr val="1A1A1A"/>
                </a:solidFill>
                <a:latin typeface="Calibri" pitchFamily="34" charset="0"/>
                <a:ea typeface="Calibri" pitchFamily="34" charset="-122"/>
                <a:cs typeface="Calibri" pitchFamily="34" charset="-120"/>
              </a:rPr>
              <a:t>Elsevier</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Study Type: </a:t>
            </a:r>
            <a:r>
              <a:rPr lang="en-US" sz="1150" dirty="0">
                <a:solidFill>
                  <a:srgbClr val="1A1A1A"/>
                </a:solidFill>
                <a:latin typeface="Calibri" pitchFamily="34" charset="0"/>
                <a:ea typeface="Calibri" pitchFamily="34" charset="-122"/>
                <a:cs typeface="Calibri" pitchFamily="34" charset="-120"/>
              </a:rPr>
              <a:t>Domain-specific mitigation</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Hallucination Focus: </a:t>
            </a:r>
            <a:r>
              <a:rPr lang="en-US" sz="1150" dirty="0">
                <a:solidFill>
                  <a:srgbClr val="1A1A1A"/>
                </a:solidFill>
                <a:latin typeface="Calibri" pitchFamily="34" charset="0"/>
                <a:ea typeface="Calibri" pitchFamily="34" charset="-122"/>
                <a:cs typeface="Calibri" pitchFamily="34" charset="-120"/>
              </a:rPr>
              <a:t>Aviation maintenance decision support</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Indexing: </a:t>
            </a:r>
            <a:r>
              <a:rPr lang="en-US" sz="1150" dirty="0">
                <a:solidFill>
                  <a:srgbClr val="1A1A1A"/>
                </a:solidFill>
                <a:latin typeface="Calibri" pitchFamily="34" charset="0"/>
                <a:ea typeface="Calibri" pitchFamily="34" charset="-122"/>
                <a:cs typeface="Calibri" pitchFamily="34" charset="-120"/>
              </a:rPr>
              <a:t>Yes, SCIE, Q1</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Source URL: </a:t>
            </a:r>
            <a:r>
              <a:rPr lang="en-US" sz="1150" dirty="0">
                <a:solidFill>
                  <a:srgbClr val="1A1A1A"/>
                </a:solidFill>
                <a:latin typeface="Calibri" pitchFamily="34" charset="0"/>
                <a:ea typeface="Calibri" pitchFamily="34" charset="-122"/>
                <a:cs typeface="Calibri" pitchFamily="34" charset="-120"/>
              </a:rPr>
              <a:t>https://www.sciencedirect.com/science/article/abs/pii/S0304457326001536</a:t>
            </a:r>
            <a:endParaRPr lang="en-US" sz="1150" dirty="0"/>
          </a:p>
        </p:txBody>
      </p:sp>
      <p:sp>
        <p:nvSpPr>
          <p:cNvPr id="5" name="Text 3"/>
          <p:cNvSpPr txBox="1"/>
          <p:nvPr/>
        </p:nvSpPr>
        <p:spPr>
          <a:xfrm>
            <a:off x="6172200" y="1463040"/>
            <a:ext cx="5440680" cy="5029200"/>
          </a:xfrm>
          <a:prstGeom prst="rect">
            <a:avLst/>
          </a:prstGeom>
          <a:noFill/>
          <a:ln/>
        </p:spPr>
        <p:txBody>
          <a:bodyPr wrap="square" lIns="0" tIns="0" rIns="0" bIns="0" rtlCol="0" anchor="t"/>
          <a:lstStyle/>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Method: </a:t>
            </a:r>
            <a:r>
              <a:rPr lang="en-US" sz="1150" dirty="0">
                <a:solidFill>
                  <a:srgbClr val="1A1A1A"/>
                </a:solidFill>
                <a:latin typeface="Calibri" pitchFamily="34" charset="0"/>
                <a:ea typeface="Calibri" pitchFamily="34" charset="-122"/>
                <a:cs typeface="Calibri" pitchFamily="34" charset="-120"/>
              </a:rPr>
              <a:t>Develops a hallucination-mitigation framework for specialized LLM decision support in aviation maintenance, emphasizing domain grounding and reliability.</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Key Finding: </a:t>
            </a:r>
            <a:r>
              <a:rPr lang="en-US" sz="1150" dirty="0">
                <a:solidFill>
                  <a:srgbClr val="1A1A1A"/>
                </a:solidFill>
                <a:latin typeface="Calibri" pitchFamily="34" charset="0"/>
                <a:ea typeface="Calibri" pitchFamily="34" charset="-122"/>
                <a:cs typeface="Calibri" pitchFamily="34" charset="-120"/>
              </a:rPr>
              <a:t>Demonstrates the importance of domain-specific knowledge and validation for high-stakes industrial LLM deployment.</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Research Gap: </a:t>
            </a:r>
            <a:r>
              <a:rPr lang="en-US" sz="1150" dirty="0">
                <a:solidFill>
                  <a:srgbClr val="1A1A1A"/>
                </a:solidFill>
                <a:latin typeface="Calibri" pitchFamily="34" charset="0"/>
                <a:ea typeface="Calibri" pitchFamily="34" charset="-122"/>
                <a:cs typeface="Calibri" pitchFamily="34" charset="-120"/>
              </a:rPr>
              <a:t>Evidence is concentrated in one industrial domain; needs cross-industry replication and standardized severity metrics.</a:t>
            </a:r>
            <a:endParaRPr lang="en-US" sz="1150" dirty="0"/>
          </a:p>
          <a:p>
            <a:pPr marL="0" indent="0">
              <a:lnSpc>
                <a:spcPct val="115000"/>
              </a:lnSpc>
              <a:buNone/>
            </a:pPr>
            <a:r>
              <a:rPr lang="en-US" sz="1150" b="1" dirty="0">
                <a:solidFill>
                  <a:srgbClr val="1A1A1A"/>
                </a:solidFill>
                <a:latin typeface="Calibri" pitchFamily="34" charset="0"/>
                <a:ea typeface="Calibri" pitchFamily="34" charset="-122"/>
                <a:cs typeface="Calibri" pitchFamily="34" charset="-120"/>
              </a:rPr>
              <a:t>Significance: </a:t>
            </a:r>
            <a:r>
              <a:rPr lang="en-US" sz="1150" dirty="0">
                <a:solidFill>
                  <a:srgbClr val="1A1A1A"/>
                </a:solidFill>
                <a:latin typeface="Calibri" pitchFamily="34" charset="0"/>
                <a:ea typeface="Calibri" pitchFamily="34" charset="-122"/>
                <a:cs typeface="Calibri" pitchFamily="34" charset="-120"/>
              </a:rPr>
              <a:t>Strong industrial example for testing whether a general hallucination framework transfers across domains.</a:t>
            </a:r>
            <a:endParaRPr lang="en-US" sz="1150" dirty="0"/>
          </a:p>
        </p:txBody>
      </p:sp>
      <p:sp>
        <p:nvSpPr>
          <p:cNvPr id="6" name="Text 4"/>
          <p:cNvSpPr txBox="1"/>
          <p:nvPr/>
        </p:nvSpPr>
        <p:spPr>
          <a:xfrm>
            <a:off x="11338560" y="6400800"/>
            <a:ext cx="457200" cy="274320"/>
          </a:xfrm>
          <a:prstGeom prst="rect">
            <a:avLst/>
          </a:prstGeom>
          <a:noFill/>
          <a:ln/>
        </p:spPr>
        <p:txBody>
          <a:bodyPr wrap="square" lIns="0" tIns="0" rIns="0" bIns="0" rtlCol="0" anchor="ctr"/>
          <a:lstStyle/>
          <a:p>
            <a:pPr marL="0" indent="0" algn="r">
              <a:buNone/>
            </a:pPr>
            <a:r>
              <a:rPr lang="en-US" sz="1000" dirty="0">
                <a:solidFill>
                  <a:srgbClr val="555555"/>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t"/>
          <a:lstStyle/>
          <a:p>
            <a:pPr marL="0" indent="0" algn="l">
              <a:buNone/>
            </a:pPr>
            <a:r>
              <a:rPr lang="en-US" sz="2800" b="1" dirty="0">
                <a:solidFill>
                  <a:srgbClr val="1A1A1A"/>
                </a:solidFill>
                <a:latin typeface="Calibri" pitchFamily="34" charset="0"/>
                <a:ea typeface="Calibri" pitchFamily="34" charset="-122"/>
                <a:cs typeface="Calibri" pitchFamily="34" charset="-120"/>
              </a:rPr>
              <a:t>Research Gap</a:t>
            </a:r>
            <a:endParaRPr lang="en-US" sz="2800" dirty="0"/>
          </a:p>
        </p:txBody>
      </p:sp>
      <p:sp>
        <p:nvSpPr>
          <p:cNvPr id="3" name="Text 1"/>
          <p:cNvSpPr txBox="1"/>
          <p:nvPr/>
        </p:nvSpPr>
        <p:spPr>
          <a:xfrm>
            <a:off x="548640" y="1143000"/>
            <a:ext cx="11064240" cy="4937760"/>
          </a:xfrm>
          <a:prstGeom prst="rect">
            <a:avLst/>
          </a:prstGeom>
          <a:noFill/>
          <a:ln/>
        </p:spPr>
        <p:txBody>
          <a:bodyPr wrap="square" lIns="0" tIns="0" rIns="0" bIns="0" rtlCol="0" anchor="t"/>
          <a:lstStyle/>
          <a:p>
            <a:pPr marL="342900" indent="-342900">
              <a:spcAft>
                <a:spcPts val="1400"/>
              </a:spcAft>
              <a:buSzPct val="100000"/>
              <a:buChar char="•"/>
            </a:pPr>
            <a:r>
              <a:rPr lang="en-US" sz="1550" dirty="0">
                <a:solidFill>
                  <a:srgbClr val="1A1A1A"/>
                </a:solidFill>
                <a:latin typeface="Calibri" pitchFamily="34" charset="0"/>
                <a:ea typeface="Calibri" pitchFamily="34" charset="-122"/>
                <a:cs typeface="Calibri" pitchFamily="34" charset="-120"/>
              </a:rPr>
              <a:t>No unified claim-level verification standard: most systems rely on uncertainty scores, similarity heuristics, or another LLM acting as judge, but none use one standard method to identify the exact false claim, link it to the evidence that supports or contradicts it, and explain the decision in interpretable terms.</a:t>
            </a:r>
            <a:endParaRPr lang="en-US" sz="1550" dirty="0"/>
          </a:p>
          <a:p>
            <a:pPr marL="342900" indent="-342900">
              <a:spcAft>
                <a:spcPts val="1400"/>
              </a:spcAft>
              <a:buSzPct val="100000"/>
              <a:buChar char="•"/>
            </a:pPr>
            <a:r>
              <a:rPr lang="en-US" sz="1550" dirty="0">
                <a:solidFill>
                  <a:srgbClr val="1A1A1A"/>
                </a:solidFill>
                <a:latin typeface="Calibri" pitchFamily="34" charset="0"/>
                <a:ea typeface="Calibri" pitchFamily="34" charset="-122"/>
                <a:cs typeface="Calibri" pitchFamily="34" charset="-120"/>
              </a:rPr>
              <a:t>More work on detection than on repair: current systems can flag or iteratively refine hallucinated claims, but no system pairs detection with a deterministic accept-or-reject certificate before the answer is delivered to users.</a:t>
            </a:r>
            <a:endParaRPr lang="en-US" sz="1550" dirty="0"/>
          </a:p>
          <a:p>
            <a:pPr marL="342900" indent="-342900">
              <a:spcAft>
                <a:spcPts val="1400"/>
              </a:spcAft>
              <a:buSzPct val="100000"/>
              <a:buChar char="•"/>
            </a:pPr>
            <a:r>
              <a:rPr lang="en-US" sz="1550" dirty="0">
                <a:solidFill>
                  <a:srgbClr val="1A1A1A"/>
                </a:solidFill>
                <a:latin typeface="Calibri" pitchFamily="34" charset="0"/>
                <a:ea typeface="Calibri" pitchFamily="34" charset="-122"/>
                <a:cs typeface="Calibri" pitchFamily="34" charset="-120"/>
              </a:rPr>
              <a:t>Self-verification is structurally unreliable: using an LLM to judge its own or another LLM's output is unsafe, because the judge shares the same faulty generation mechanism as the generator, making a verification method independent of LLMs necessary.</a:t>
            </a:r>
            <a:endParaRPr lang="en-US" sz="1550" dirty="0"/>
          </a:p>
          <a:p>
            <a:pPr marL="342900" indent="-342900">
              <a:spcAft>
                <a:spcPts val="1400"/>
              </a:spcAft>
              <a:buSzPct val="100000"/>
              <a:buChar char="•"/>
            </a:pPr>
            <a:r>
              <a:rPr lang="en-US" sz="1550" dirty="0">
                <a:solidFill>
                  <a:srgbClr val="1A1A1A"/>
                </a:solidFill>
                <a:latin typeface="Calibri" pitchFamily="34" charset="0"/>
                <a:ea typeface="Calibri" pitchFamily="34" charset="-122"/>
                <a:cs typeface="Calibri" pitchFamily="34" charset="-120"/>
              </a:rPr>
              <a:t>Better retrieval does not solve faithfulness: even strong retrieval systems such as Hyper-RAG reduce hallucination but do not eliminate it, leaving open the question of whether a specific claim is actually matched by the retrieved evidence.</a:t>
            </a:r>
            <a:endParaRPr lang="en-US" sz="1550" dirty="0"/>
          </a:p>
        </p:txBody>
      </p:sp>
      <p:sp>
        <p:nvSpPr>
          <p:cNvPr id="4" name="Text 2"/>
          <p:cNvSpPr txBox="1"/>
          <p:nvPr/>
        </p:nvSpPr>
        <p:spPr>
          <a:xfrm>
            <a:off x="548640" y="5989320"/>
            <a:ext cx="11064240" cy="640080"/>
          </a:xfrm>
          <a:prstGeom prst="rect">
            <a:avLst/>
          </a:prstGeom>
          <a:noFill/>
          <a:ln/>
        </p:spPr>
        <p:txBody>
          <a:bodyPr wrap="square" lIns="0" tIns="0" rIns="0" bIns="0" rtlCol="0" anchor="t"/>
          <a:lstStyle/>
          <a:p>
            <a:pPr marL="0" indent="0">
              <a:buNone/>
            </a:pPr>
            <a:r>
              <a:rPr lang="en-US" sz="1400" i="1" dirty="0">
                <a:solidFill>
                  <a:srgbClr val="555555"/>
                </a:solidFill>
                <a:latin typeface="Calibri" pitchFamily="34" charset="0"/>
                <a:ea typeface="Calibri" pitchFamily="34" charset="-122"/>
                <a:cs typeface="Calibri" pitchFamily="34" charset="-120"/>
              </a:rPr>
              <a:t>Together, these four gaps define the project space: a claim-level, evidence-grounded, three-way matching verdict produced by a deterministic classifier, independent of other LLMs acting as judges.</a:t>
            </a:r>
            <a:endParaRPr lang="en-US" sz="1400" dirty="0"/>
          </a:p>
        </p:txBody>
      </p:sp>
      <p:sp>
        <p:nvSpPr>
          <p:cNvPr id="5" name="Text 3"/>
          <p:cNvSpPr txBox="1"/>
          <p:nvPr/>
        </p:nvSpPr>
        <p:spPr>
          <a:xfrm>
            <a:off x="11338560" y="6400800"/>
            <a:ext cx="457200" cy="274320"/>
          </a:xfrm>
          <a:prstGeom prst="rect">
            <a:avLst/>
          </a:prstGeom>
          <a:noFill/>
          <a:ln/>
        </p:spPr>
        <p:txBody>
          <a:bodyPr wrap="square" lIns="0" tIns="0" rIns="0" bIns="0" rtlCol="0" anchor="ctr"/>
          <a:lstStyle/>
          <a:p>
            <a:pPr marL="0" indent="0" algn="r">
              <a:buNone/>
            </a:pPr>
            <a:r>
              <a:rPr lang="en-US" sz="1000" dirty="0">
                <a:solidFill>
                  <a:srgbClr val="555555"/>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t"/>
          <a:lstStyle/>
          <a:p>
            <a:pPr marL="0" indent="0" algn="l">
              <a:buNone/>
            </a:pPr>
            <a:r>
              <a:rPr lang="en-US" sz="2800" b="1" dirty="0">
                <a:solidFill>
                  <a:srgbClr val="1A1A1A"/>
                </a:solidFill>
                <a:latin typeface="Calibri" pitchFamily="34" charset="0"/>
                <a:ea typeface="Calibri" pitchFamily="34" charset="-122"/>
                <a:cs typeface="Calibri" pitchFamily="34" charset="-120"/>
              </a:rPr>
              <a:t>Problem Statement</a:t>
            </a:r>
            <a:endParaRPr lang="en-US" sz="2800" dirty="0"/>
          </a:p>
        </p:txBody>
      </p:sp>
      <p:sp>
        <p:nvSpPr>
          <p:cNvPr id="3" name="Text 1"/>
          <p:cNvSpPr txBox="1"/>
          <p:nvPr/>
        </p:nvSpPr>
        <p:spPr>
          <a:xfrm>
            <a:off x="548640" y="1143000"/>
            <a:ext cx="11064240" cy="539496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1A1A1A"/>
                </a:solidFill>
                <a:latin typeface="Calibri" pitchFamily="34" charset="0"/>
                <a:ea typeface="Calibri" pitchFamily="34" charset="-122"/>
                <a:cs typeface="Calibri" pitchFamily="34" charset="-120"/>
              </a:rPr>
              <a:t>Current RAG systems are checked using answer-level or system-level faithfulness scores. These scores cannot point to which part of an answer is the problem.</a:t>
            </a:r>
            <a:endParaRPr lang="en-US" sz="1600" dirty="0"/>
          </a:p>
          <a:p>
            <a:pPr marL="342900" indent="-342900">
              <a:spcAft>
                <a:spcPts val="1200"/>
              </a:spcAft>
              <a:buSzPct val="100000"/>
              <a:buChar char="•"/>
            </a:pPr>
            <a:r>
              <a:rPr lang="en-US" sz="1600" dirty="0">
                <a:solidFill>
                  <a:srgbClr val="1A1A1A"/>
                </a:solidFill>
                <a:latin typeface="Calibri" pitchFamily="34" charset="0"/>
                <a:ea typeface="Calibri" pitchFamily="34" charset="-122"/>
                <a:cs typeface="Calibri" pitchFamily="34" charset="-120"/>
              </a:rPr>
              <a:t>Approaches that do try to localize errors either use a binary support judgment (hallucinated vs not) or rely on an LLM-as-judge, which is costly, slow and can itself hallucinate.</a:t>
            </a:r>
            <a:endParaRPr lang="en-US" sz="1600" dirty="0"/>
          </a:p>
          <a:p>
            <a:pPr marL="342900" indent="-342900">
              <a:spcAft>
                <a:spcPts val="1200"/>
              </a:spcAft>
              <a:buSzPct val="100000"/>
              <a:buChar char="•"/>
            </a:pPr>
            <a:r>
              <a:rPr lang="en-US" sz="1600" dirty="0">
                <a:solidFill>
                  <a:srgbClr val="1A1A1A"/>
                </a:solidFill>
                <a:latin typeface="Calibri" pitchFamily="34" charset="0"/>
                <a:ea typeface="Calibri" pitchFamily="34" charset="-122"/>
                <a:cs typeface="Calibri" pitchFamily="34" charset="-120"/>
              </a:rPr>
              <a:t>There is a documented gap, in the literature and in current tools, for a verification approach that does three things together: fragments an answer into claims, classifies each claim against the retrieved context as supported, unsupported, or contradicted, and does this efficiently and deterministically so it can run inside a live RAG pipeline rather than as an offline audit.</a:t>
            </a:r>
            <a:endParaRPr lang="en-US" sz="1600" dirty="0"/>
          </a:p>
          <a:p>
            <a:pPr marL="342900" indent="-342900">
              <a:spcAft>
                <a:spcPts val="1200"/>
              </a:spcAft>
              <a:buSzPct val="100000"/>
              <a:buChar char="•"/>
            </a:pPr>
            <a:r>
              <a:rPr lang="en-US" sz="1600" dirty="0">
                <a:solidFill>
                  <a:srgbClr val="1A1A1A"/>
                </a:solidFill>
                <a:latin typeface="Calibri" pitchFamily="34" charset="0"/>
                <a:ea typeface="Calibri" pitchFamily="34" charset="-122"/>
                <a:cs typeface="Calibri" pitchFamily="34" charset="-120"/>
              </a:rPr>
              <a:t>This project aims to design, and in a later stage implement and evaluate, a claim-level matching verification module that fills this gap, in the context of the research gaps found across the twenty surveyed Q1 papers.</a:t>
            </a:r>
            <a:endParaRPr lang="en-US" sz="1600" dirty="0"/>
          </a:p>
        </p:txBody>
      </p:sp>
      <p:sp>
        <p:nvSpPr>
          <p:cNvPr id="4" name="Text 2"/>
          <p:cNvSpPr txBox="1"/>
          <p:nvPr/>
        </p:nvSpPr>
        <p:spPr>
          <a:xfrm>
            <a:off x="11338560" y="6400800"/>
            <a:ext cx="457200" cy="274320"/>
          </a:xfrm>
          <a:prstGeom prst="rect">
            <a:avLst/>
          </a:prstGeom>
          <a:noFill/>
          <a:ln/>
        </p:spPr>
        <p:txBody>
          <a:bodyPr wrap="square" lIns="0" tIns="0" rIns="0" bIns="0" rtlCol="0" anchor="ctr"/>
          <a:lstStyle/>
          <a:p>
            <a:pPr marL="0" indent="0" algn="r">
              <a:buNone/>
            </a:pPr>
            <a:r>
              <a:rPr lang="en-US" sz="1000" dirty="0">
                <a:solidFill>
                  <a:srgbClr val="555555"/>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t"/>
          <a:lstStyle/>
          <a:p>
            <a:pPr marL="0" indent="0" algn="l">
              <a:buNone/>
            </a:pPr>
            <a:r>
              <a:rPr lang="en-US" sz="2800" b="1" dirty="0">
                <a:solidFill>
                  <a:srgbClr val="1A1A1A"/>
                </a:solidFill>
                <a:latin typeface="Calibri" pitchFamily="34" charset="0"/>
                <a:ea typeface="Calibri" pitchFamily="34" charset="-122"/>
                <a:cs typeface="Calibri" pitchFamily="34" charset="-120"/>
              </a:rPr>
              <a:t>Proposed System</a:t>
            </a:r>
            <a:endParaRPr lang="en-US" sz="2800" dirty="0"/>
          </a:p>
        </p:txBody>
      </p:sp>
      <p:sp>
        <p:nvSpPr>
          <p:cNvPr id="3" name="Text 1"/>
          <p:cNvSpPr txBox="1"/>
          <p:nvPr/>
        </p:nvSpPr>
        <p:spPr>
          <a:xfrm>
            <a:off x="548640" y="1097280"/>
            <a:ext cx="11064240" cy="457200"/>
          </a:xfrm>
          <a:prstGeom prst="rect">
            <a:avLst/>
          </a:prstGeom>
          <a:noFill/>
          <a:ln/>
        </p:spPr>
        <p:txBody>
          <a:bodyPr wrap="square" lIns="0" tIns="0" rIns="0" bIns="0" rtlCol="0" anchor="ctr"/>
          <a:lstStyle/>
          <a:p>
            <a:pPr marL="0" indent="0">
              <a:buNone/>
            </a:pPr>
            <a:r>
              <a:rPr lang="en-US" sz="1500" dirty="0">
                <a:solidFill>
                  <a:srgbClr val="1A1A1A"/>
                </a:solidFill>
                <a:latin typeface="Calibri" pitchFamily="34" charset="0"/>
                <a:ea typeface="Calibri" pitchFamily="34" charset="-122"/>
                <a:cs typeface="Calibri" pitchFamily="34" charset="-120"/>
              </a:rPr>
              <a:t>Three stages run after the RAG generator and before the answer reaches the user:</a:t>
            </a:r>
            <a:endParaRPr lang="en-US" sz="1500" dirty="0"/>
          </a:p>
        </p:txBody>
      </p:sp>
      <p:sp>
        <p:nvSpPr>
          <p:cNvPr id="4" name="Text 2"/>
          <p:cNvSpPr txBox="1"/>
          <p:nvPr/>
        </p:nvSpPr>
        <p:spPr>
          <a:xfrm>
            <a:off x="548640" y="1691640"/>
            <a:ext cx="11064240" cy="365760"/>
          </a:xfrm>
          <a:prstGeom prst="rect">
            <a:avLst/>
          </a:prstGeom>
          <a:noFill/>
          <a:ln/>
        </p:spPr>
        <p:txBody>
          <a:bodyPr wrap="square" lIns="0" tIns="0" rIns="0" bIns="0" rtlCol="0" anchor="ctr"/>
          <a:lstStyle/>
          <a:p>
            <a:pPr marL="0" indent="0">
              <a:buNone/>
            </a:pPr>
            <a:r>
              <a:rPr lang="en-US" sz="1600" b="1" dirty="0">
                <a:solidFill>
                  <a:srgbClr val="1A1A1A"/>
                </a:solidFill>
                <a:latin typeface="Calibri" pitchFamily="34" charset="0"/>
                <a:ea typeface="Calibri" pitchFamily="34" charset="-122"/>
                <a:cs typeface="Calibri" pitchFamily="34" charset="-120"/>
              </a:rPr>
              <a:t>1. Claim Fragmentation</a:t>
            </a:r>
            <a:endParaRPr lang="en-US" sz="1600" dirty="0"/>
          </a:p>
        </p:txBody>
      </p:sp>
      <p:sp>
        <p:nvSpPr>
          <p:cNvPr id="5" name="Text 3"/>
          <p:cNvSpPr txBox="1"/>
          <p:nvPr/>
        </p:nvSpPr>
        <p:spPr>
          <a:xfrm>
            <a:off x="548640" y="2075688"/>
            <a:ext cx="11064240" cy="822960"/>
          </a:xfrm>
          <a:prstGeom prst="rect">
            <a:avLst/>
          </a:prstGeom>
          <a:noFill/>
          <a:ln/>
        </p:spPr>
        <p:txBody>
          <a:bodyPr wrap="square" lIns="0" tIns="0" rIns="0" bIns="0" rtlCol="0" anchor="t"/>
          <a:lstStyle/>
          <a:p>
            <a:pPr marL="0" indent="0">
              <a:buNone/>
            </a:pPr>
            <a:r>
              <a:rPr lang="en-US" sz="1400" dirty="0">
                <a:solidFill>
                  <a:srgbClr val="1A1A1A"/>
                </a:solidFill>
                <a:latin typeface="Calibri" pitchFamily="34" charset="0"/>
                <a:ea typeface="Calibri" pitchFamily="34" charset="-122"/>
                <a:cs typeface="Calibri" pitchFamily="34" charset="-120"/>
              </a:rPr>
              <a:t>Splits the generated answer into atomic claims, each expressing a single checkable fact, using either an LLM prompted for atomic statements or a rule-based sentence-splitting and coreference pipeline for lower latency.</a:t>
            </a:r>
            <a:endParaRPr lang="en-US" sz="1400" dirty="0"/>
          </a:p>
        </p:txBody>
      </p:sp>
      <p:sp>
        <p:nvSpPr>
          <p:cNvPr id="6" name="Text 4"/>
          <p:cNvSpPr txBox="1"/>
          <p:nvPr/>
        </p:nvSpPr>
        <p:spPr>
          <a:xfrm>
            <a:off x="548640" y="3108960"/>
            <a:ext cx="11064240" cy="365760"/>
          </a:xfrm>
          <a:prstGeom prst="rect">
            <a:avLst/>
          </a:prstGeom>
          <a:noFill/>
          <a:ln/>
        </p:spPr>
        <p:txBody>
          <a:bodyPr wrap="square" lIns="0" tIns="0" rIns="0" bIns="0" rtlCol="0" anchor="ctr"/>
          <a:lstStyle/>
          <a:p>
            <a:pPr marL="0" indent="0">
              <a:buNone/>
            </a:pPr>
            <a:r>
              <a:rPr lang="en-US" sz="1600" b="1" dirty="0">
                <a:solidFill>
                  <a:srgbClr val="1A1A1A"/>
                </a:solidFill>
                <a:latin typeface="Calibri" pitchFamily="34" charset="0"/>
                <a:ea typeface="Calibri" pitchFamily="34" charset="-122"/>
                <a:cs typeface="Calibri" pitchFamily="34" charset="-120"/>
              </a:rPr>
              <a:t>2. Retrieval Alignment</a:t>
            </a:r>
            <a:endParaRPr lang="en-US" sz="1600" dirty="0"/>
          </a:p>
        </p:txBody>
      </p:sp>
      <p:sp>
        <p:nvSpPr>
          <p:cNvPr id="7" name="Text 5"/>
          <p:cNvSpPr txBox="1"/>
          <p:nvPr/>
        </p:nvSpPr>
        <p:spPr>
          <a:xfrm>
            <a:off x="548640" y="3493008"/>
            <a:ext cx="11064240" cy="822960"/>
          </a:xfrm>
          <a:prstGeom prst="rect">
            <a:avLst/>
          </a:prstGeom>
          <a:noFill/>
          <a:ln/>
        </p:spPr>
        <p:txBody>
          <a:bodyPr wrap="square" lIns="0" tIns="0" rIns="0" bIns="0" rtlCol="0" anchor="t"/>
          <a:lstStyle/>
          <a:p>
            <a:pPr marL="0" indent="0">
              <a:buNone/>
            </a:pPr>
            <a:r>
              <a:rPr lang="en-US" sz="1400" dirty="0">
                <a:solidFill>
                  <a:srgbClr val="1A1A1A"/>
                </a:solidFill>
                <a:latin typeface="Calibri" pitchFamily="34" charset="0"/>
                <a:ea typeface="Calibri" pitchFamily="34" charset="-122"/>
                <a:cs typeface="Calibri" pitchFamily="34" charset="-120"/>
              </a:rPr>
              <a:t>Uses semantic similarity to narrow, for each claim, the retrieved passages down to the two or three most relevant ones, so the matching step is not distracted by irrelevant context.</a:t>
            </a:r>
            <a:endParaRPr lang="en-US" sz="1400" dirty="0"/>
          </a:p>
        </p:txBody>
      </p:sp>
      <p:sp>
        <p:nvSpPr>
          <p:cNvPr id="8" name="Text 6"/>
          <p:cNvSpPr txBox="1"/>
          <p:nvPr/>
        </p:nvSpPr>
        <p:spPr>
          <a:xfrm>
            <a:off x="548640" y="4526280"/>
            <a:ext cx="11064240" cy="365760"/>
          </a:xfrm>
          <a:prstGeom prst="rect">
            <a:avLst/>
          </a:prstGeom>
          <a:noFill/>
          <a:ln/>
        </p:spPr>
        <p:txBody>
          <a:bodyPr wrap="square" lIns="0" tIns="0" rIns="0" bIns="0" rtlCol="0" anchor="ctr"/>
          <a:lstStyle/>
          <a:p>
            <a:pPr marL="0" indent="0">
              <a:buNone/>
            </a:pPr>
            <a:r>
              <a:rPr lang="en-US" sz="1600" b="1" dirty="0">
                <a:solidFill>
                  <a:srgbClr val="1A1A1A"/>
                </a:solidFill>
                <a:latin typeface="Calibri" pitchFamily="34" charset="0"/>
                <a:ea typeface="Calibri" pitchFamily="34" charset="-122"/>
                <a:cs typeface="Calibri" pitchFamily="34" charset="-120"/>
              </a:rPr>
              <a:t>3. Matching Classification</a:t>
            </a:r>
            <a:endParaRPr lang="en-US" sz="1600" dirty="0"/>
          </a:p>
        </p:txBody>
      </p:sp>
      <p:sp>
        <p:nvSpPr>
          <p:cNvPr id="9" name="Text 7"/>
          <p:cNvSpPr txBox="1"/>
          <p:nvPr/>
        </p:nvSpPr>
        <p:spPr>
          <a:xfrm>
            <a:off x="548640" y="4910328"/>
            <a:ext cx="11064240" cy="822960"/>
          </a:xfrm>
          <a:prstGeom prst="rect">
            <a:avLst/>
          </a:prstGeom>
          <a:noFill/>
          <a:ln/>
        </p:spPr>
        <p:txBody>
          <a:bodyPr wrap="square" lIns="0" tIns="0" rIns="0" bIns="0" rtlCol="0" anchor="t"/>
          <a:lstStyle/>
          <a:p>
            <a:pPr marL="0" indent="0">
              <a:buNone/>
            </a:pPr>
            <a:r>
              <a:rPr lang="en-US" sz="1400" dirty="0">
                <a:solidFill>
                  <a:srgbClr val="1A1A1A"/>
                </a:solidFill>
                <a:latin typeface="Calibri" pitchFamily="34" charset="0"/>
                <a:ea typeface="Calibri" pitchFamily="34" charset="-122"/>
                <a:cs typeface="Calibri" pitchFamily="34" charset="-120"/>
              </a:rPr>
              <a:t>An encoder-based NLI model (DeBERTa fine-tuned on MNLI, FEVER and ANLI) labels each claim against its aligned passages as supported, unsupported, or contradicted, and stores the claim text, evidence span and a confidence score.</a:t>
            </a:r>
            <a:endParaRPr lang="en-US" sz="1400" dirty="0"/>
          </a:p>
        </p:txBody>
      </p:sp>
      <p:sp>
        <p:nvSpPr>
          <p:cNvPr id="10" name="Text 8"/>
          <p:cNvSpPr txBox="1"/>
          <p:nvPr/>
        </p:nvSpPr>
        <p:spPr>
          <a:xfrm>
            <a:off x="11338560" y="6400800"/>
            <a:ext cx="457200" cy="274320"/>
          </a:xfrm>
          <a:prstGeom prst="rect">
            <a:avLst/>
          </a:prstGeom>
          <a:noFill/>
          <a:ln/>
        </p:spPr>
        <p:txBody>
          <a:bodyPr wrap="square" lIns="0" tIns="0" rIns="0" bIns="0" rtlCol="0" anchor="ctr"/>
          <a:lstStyle/>
          <a:p>
            <a:pPr marL="0" indent="0" algn="r">
              <a:buNone/>
            </a:pPr>
            <a:r>
              <a:rPr lang="en-US" sz="1000" dirty="0">
                <a:solidFill>
                  <a:srgbClr val="555555"/>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t"/>
          <a:lstStyle/>
          <a:p>
            <a:pPr marL="0" indent="0" algn="l">
              <a:buNone/>
            </a:pPr>
            <a:r>
              <a:rPr lang="en-US" sz="2800" b="1" dirty="0">
                <a:solidFill>
                  <a:srgbClr val="1A1A1A"/>
                </a:solidFill>
                <a:latin typeface="Calibri" pitchFamily="34" charset="0"/>
                <a:ea typeface="Calibri" pitchFamily="34" charset="-122"/>
                <a:cs typeface="Calibri" pitchFamily="34" charset="-120"/>
              </a:rPr>
              <a:t>Proposed System Contd</a:t>
            </a:r>
            <a:endParaRPr lang="en-US" sz="2800" dirty="0"/>
          </a:p>
        </p:txBody>
      </p:sp>
      <p:sp>
        <p:nvSpPr>
          <p:cNvPr id="3" name="Text 1"/>
          <p:cNvSpPr txBox="1"/>
          <p:nvPr/>
        </p:nvSpPr>
        <p:spPr>
          <a:xfrm>
            <a:off x="548640" y="1188720"/>
            <a:ext cx="11064240" cy="2377440"/>
          </a:xfrm>
          <a:prstGeom prst="rect">
            <a:avLst/>
          </a:prstGeom>
          <a:noFill/>
          <a:ln/>
        </p:spPr>
        <p:txBody>
          <a:bodyPr wrap="square" lIns="0" tIns="0" rIns="0" bIns="0" rtlCol="0" anchor="t"/>
          <a:lstStyle/>
          <a:p>
            <a:pPr marL="0" indent="0">
              <a:lnSpc>
                <a:spcPct val="120000"/>
              </a:lnSpc>
              <a:buNone/>
            </a:pPr>
            <a:r>
              <a:rPr lang="en-US" sz="1500" b="1" dirty="0">
                <a:solidFill>
                  <a:srgbClr val="1A1A1A"/>
                </a:solidFill>
                <a:latin typeface="Calibri" pitchFamily="34" charset="0"/>
                <a:ea typeface="Calibri" pitchFamily="34" charset="-122"/>
                <a:cs typeface="Calibri" pitchFamily="34" charset="-120"/>
              </a:rPr>
              <a:t>All claims supported: </a:t>
            </a:r>
            <a:r>
              <a:rPr lang="en-US" sz="1500" dirty="0">
                <a:solidFill>
                  <a:srgbClr val="1A1A1A"/>
                </a:solidFill>
                <a:latin typeface="Calibri" pitchFamily="34" charset="0"/>
                <a:ea typeface="Calibri" pitchFamily="34" charset="-122"/>
                <a:cs typeface="Calibri" pitchFamily="34" charset="-120"/>
              </a:rPr>
              <a:t>the answer is left untouched.
</a:t>
            </a:r>
            <a:endParaRPr lang="en-US" sz="1500" dirty="0"/>
          </a:p>
          <a:p>
            <a:pPr marL="0" indent="0">
              <a:lnSpc>
                <a:spcPct val="120000"/>
              </a:lnSpc>
              <a:buNone/>
            </a:pPr>
            <a:r>
              <a:rPr lang="en-US" sz="1500" b="1" dirty="0">
                <a:solidFill>
                  <a:srgbClr val="1A1A1A"/>
                </a:solidFill>
                <a:latin typeface="Calibri" pitchFamily="34" charset="0"/>
                <a:ea typeface="Calibri" pitchFamily="34" charset="-122"/>
                <a:cs typeface="Calibri" pitchFamily="34" charset="-120"/>
              </a:rPr>
              <a:t>At least one unsupported, none contradicted: </a:t>
            </a:r>
            <a:r>
              <a:rPr lang="en-US" sz="1500" dirty="0">
                <a:solidFill>
                  <a:srgbClr val="1A1A1A"/>
                </a:solidFill>
                <a:latin typeface="Calibri" pitchFamily="34" charset="0"/>
                <a:ea typeface="Calibri" pitchFamily="34" charset="-122"/>
                <a:cs typeface="Calibri" pitchFamily="34" charset="-120"/>
              </a:rPr>
              <a:t>the answer is passed through, with the unsupported claims flagged in-line, since an unsupported claim can still be true but is simply not backed by the retrieved evidence.
</a:t>
            </a:r>
            <a:endParaRPr lang="en-US" sz="1500" dirty="0"/>
          </a:p>
          <a:p>
            <a:pPr marL="0" indent="0">
              <a:lnSpc>
                <a:spcPct val="120000"/>
              </a:lnSpc>
              <a:buNone/>
            </a:pPr>
            <a:r>
              <a:rPr lang="en-US" sz="1500" b="1" dirty="0">
                <a:solidFill>
                  <a:srgbClr val="1A1A1A"/>
                </a:solidFill>
                <a:latin typeface="Calibri" pitchFamily="34" charset="0"/>
                <a:ea typeface="Calibri" pitchFamily="34" charset="-122"/>
                <a:cs typeface="Calibri" pitchFamily="34" charset="-120"/>
              </a:rPr>
              <a:t>Any contradicted claim: </a:t>
            </a:r>
            <a:r>
              <a:rPr lang="en-US" sz="1500" dirty="0">
                <a:solidFill>
                  <a:srgbClr val="1A1A1A"/>
                </a:solidFill>
                <a:latin typeface="Calibri" pitchFamily="34" charset="0"/>
                <a:ea typeface="Calibri" pitchFamily="34" charset="-122"/>
                <a:cs typeface="Calibri" pitchFamily="34" charset="-120"/>
              </a:rPr>
              <a:t>the answer is withheld or regenerated, since a contradiction means the model stated something that goes against its own retrieved evidence.</a:t>
            </a:r>
            <a:endParaRPr lang="en-US" sz="1500" dirty="0"/>
          </a:p>
        </p:txBody>
      </p:sp>
      <p:sp>
        <p:nvSpPr>
          <p:cNvPr id="4" name="Text 2"/>
          <p:cNvSpPr txBox="1"/>
          <p:nvPr/>
        </p:nvSpPr>
        <p:spPr>
          <a:xfrm>
            <a:off x="548640" y="3703320"/>
            <a:ext cx="11064240" cy="365760"/>
          </a:xfrm>
          <a:prstGeom prst="rect">
            <a:avLst/>
          </a:prstGeom>
          <a:noFill/>
          <a:ln/>
        </p:spPr>
        <p:txBody>
          <a:bodyPr wrap="square" lIns="0" tIns="0" rIns="0" bIns="0" rtlCol="0" anchor="ctr"/>
          <a:lstStyle/>
          <a:p>
            <a:pPr marL="0" indent="0">
              <a:buNone/>
            </a:pPr>
            <a:r>
              <a:rPr lang="en-US" sz="1600" b="1" dirty="0">
                <a:solidFill>
                  <a:srgbClr val="1A1A1A"/>
                </a:solidFill>
                <a:latin typeface="Calibri" pitchFamily="34" charset="0"/>
                <a:ea typeface="Calibri" pitchFamily="34" charset="-122"/>
                <a:cs typeface="Calibri" pitchFamily="34" charset="-120"/>
              </a:rPr>
              <a:t>Worked example</a:t>
            </a:r>
            <a:endParaRPr lang="en-US" sz="1600" dirty="0"/>
          </a:p>
        </p:txBody>
      </p:sp>
      <p:sp>
        <p:nvSpPr>
          <p:cNvPr id="5" name="Text 3"/>
          <p:cNvSpPr txBox="1"/>
          <p:nvPr/>
        </p:nvSpPr>
        <p:spPr>
          <a:xfrm>
            <a:off x="548640" y="4114800"/>
            <a:ext cx="11064240" cy="2377440"/>
          </a:xfrm>
          <a:prstGeom prst="rect">
            <a:avLst/>
          </a:prstGeom>
          <a:noFill/>
          <a:ln/>
        </p:spPr>
        <p:txBody>
          <a:bodyPr wrap="square" lIns="0" tIns="0" rIns="0" bIns="0" rtlCol="0" anchor="t"/>
          <a:lstStyle/>
          <a:p>
            <a:pPr marL="0" indent="0">
              <a:lnSpc>
                <a:spcPct val="120000"/>
              </a:lnSpc>
              <a:buNone/>
            </a:pPr>
            <a:r>
              <a:rPr lang="en-US" sz="1400" b="1" dirty="0">
                <a:solidFill>
                  <a:srgbClr val="1A1A1A"/>
                </a:solidFill>
                <a:latin typeface="Calibri" pitchFamily="34" charset="0"/>
                <a:ea typeface="Calibri" pitchFamily="34" charset="-122"/>
                <a:cs typeface="Calibri" pitchFamily="34" charset="-120"/>
              </a:rPr>
              <a:t>Retrieved passage: </a:t>
            </a:r>
            <a:r>
              <a:rPr lang="en-US" sz="1400" dirty="0">
                <a:solidFill>
                  <a:srgbClr val="1A1A1A"/>
                </a:solidFill>
                <a:latin typeface="Calibri" pitchFamily="34" charset="0"/>
                <a:ea typeface="Calibri" pitchFamily="34" charset="-122"/>
                <a:cs typeface="Calibri" pitchFamily="34" charset="-120"/>
              </a:rPr>
              <a:t>a company reported quarterly revenue of 4.2 billion rupees with a net profit margin of 11 percent.
</a:t>
            </a:r>
            <a:endParaRPr lang="en-US" sz="1400" dirty="0"/>
          </a:p>
          <a:p>
            <a:pPr marL="0" indent="0">
              <a:lnSpc>
                <a:spcPct val="120000"/>
              </a:lnSpc>
              <a:buNone/>
            </a:pPr>
            <a:r>
              <a:rPr lang="en-US" sz="1400" b="1" dirty="0">
                <a:solidFill>
                  <a:srgbClr val="1A1A1A"/>
                </a:solidFill>
                <a:latin typeface="Calibri" pitchFamily="34" charset="0"/>
                <a:ea typeface="Calibri" pitchFamily="34" charset="-122"/>
                <a:cs typeface="Calibri" pitchFamily="34" charset="-120"/>
              </a:rPr>
              <a:t>Generated answer: </a:t>
            </a:r>
            <a:r>
              <a:rPr lang="en-US" sz="1400" dirty="0">
                <a:solidFill>
                  <a:srgbClr val="1A1A1A"/>
                </a:solidFill>
                <a:latin typeface="Calibri" pitchFamily="34" charset="0"/>
                <a:ea typeface="Calibri" pitchFamily="34" charset="-122"/>
                <a:cs typeface="Calibri" pitchFamily="34" charset="-120"/>
              </a:rPr>
              <a:t>"The company announced quarterly revenue of 4.2 billion rupees, with profit margins increasing due to cutting costs in manufacturing."
</a:t>
            </a:r>
            <a:endParaRPr lang="en-US" sz="1400" dirty="0"/>
          </a:p>
          <a:p>
            <a:pPr marL="0" indent="0">
              <a:lnSpc>
                <a:spcPct val="120000"/>
              </a:lnSpc>
              <a:buNone/>
            </a:pPr>
            <a:r>
              <a:rPr lang="en-US" sz="1400" b="1" dirty="0">
                <a:solidFill>
                  <a:srgbClr val="1A1A1A"/>
                </a:solidFill>
                <a:latin typeface="Calibri" pitchFamily="34" charset="0"/>
                <a:ea typeface="Calibri" pitchFamily="34" charset="-122"/>
                <a:cs typeface="Calibri" pitchFamily="34" charset="-120"/>
              </a:rPr>
              <a:t>Result: </a:t>
            </a:r>
            <a:r>
              <a:rPr lang="en-US" sz="1400" dirty="0">
                <a:solidFill>
                  <a:srgbClr val="1A1A1A"/>
                </a:solidFill>
                <a:latin typeface="Calibri" pitchFamily="34" charset="0"/>
                <a:ea typeface="Calibri" pitchFamily="34" charset="-122"/>
                <a:cs typeface="Calibri" pitchFamily="34" charset="-120"/>
              </a:rPr>
              <a:t>Claim 1 (revenue figure) is marked supported, since the number matches. Claim 2 (cost-cutting explanation) is marked unsupported, correctly isolating the fabricated explanation while leaving the accurate revenue figure untouched.</a:t>
            </a:r>
            <a:endParaRPr lang="en-US" sz="1400" dirty="0"/>
          </a:p>
        </p:txBody>
      </p:sp>
      <p:sp>
        <p:nvSpPr>
          <p:cNvPr id="6" name="Text 4"/>
          <p:cNvSpPr txBox="1"/>
          <p:nvPr/>
        </p:nvSpPr>
        <p:spPr>
          <a:xfrm>
            <a:off x="11338560" y="6400800"/>
            <a:ext cx="457200" cy="274320"/>
          </a:xfrm>
          <a:prstGeom prst="rect">
            <a:avLst/>
          </a:prstGeom>
          <a:noFill/>
          <a:ln/>
        </p:spPr>
        <p:txBody>
          <a:bodyPr wrap="square" lIns="0" tIns="0" rIns="0" bIns="0" rtlCol="0" anchor="ctr"/>
          <a:lstStyle/>
          <a:p>
            <a:pPr marL="0" indent="0" algn="r">
              <a:buNone/>
            </a:pPr>
            <a:r>
              <a:rPr lang="en-US" sz="1000" dirty="0">
                <a:solidFill>
                  <a:srgbClr val="555555"/>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t"/>
          <a:lstStyle/>
          <a:p>
            <a:pPr marL="0" indent="0" algn="l">
              <a:buNone/>
            </a:pPr>
            <a:r>
              <a:rPr lang="en-US" sz="2800" b="1" dirty="0">
                <a:solidFill>
                  <a:srgbClr val="1A1A1A"/>
                </a:solidFill>
                <a:latin typeface="Calibri" pitchFamily="34" charset="0"/>
                <a:ea typeface="Calibri" pitchFamily="34" charset="-122"/>
                <a:cs typeface="Calibri" pitchFamily="34" charset="-120"/>
              </a:rPr>
              <a:t>Conclusion</a:t>
            </a:r>
            <a:endParaRPr lang="en-US" sz="2800" dirty="0"/>
          </a:p>
        </p:txBody>
      </p:sp>
      <p:sp>
        <p:nvSpPr>
          <p:cNvPr id="3" name="Text 1"/>
          <p:cNvSpPr txBox="1"/>
          <p:nvPr/>
        </p:nvSpPr>
        <p:spPr>
          <a:xfrm>
            <a:off x="548640" y="1143000"/>
            <a:ext cx="11064240" cy="539496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1A1A1A"/>
                </a:solidFill>
                <a:latin typeface="Calibri" pitchFamily="34" charset="0"/>
                <a:ea typeface="Calibri" pitchFamily="34" charset="-122"/>
                <a:cs typeface="Calibri" pitchFamily="34" charset="-120"/>
              </a:rPr>
              <a:t>RAG faithfulness evaluation today is too coarse-grained and often depends on self-referential LLM judgments.</a:t>
            </a:r>
            <a:endParaRPr lang="en-US" sz="1600" dirty="0"/>
          </a:p>
          <a:p>
            <a:pPr marL="342900" indent="-342900">
              <a:spcAft>
                <a:spcPts val="1200"/>
              </a:spcAft>
              <a:buSzPct val="100000"/>
              <a:buChar char="•"/>
            </a:pPr>
            <a:r>
              <a:rPr lang="en-US" sz="1600" dirty="0">
                <a:solidFill>
                  <a:srgbClr val="1A1A1A"/>
                </a:solidFill>
                <a:latin typeface="Calibri" pitchFamily="34" charset="0"/>
                <a:ea typeface="Calibri" pitchFamily="34" charset="-122"/>
                <a:cs typeface="Calibri" pitchFamily="34" charset="-120"/>
              </a:rPr>
              <a:t>A systematic review of twenty Q1 journal papers (2024-2026) confirmed recurring gaps: no unified claim-level verification standard, more work on detection than on repair, unreliable self-verification by LLMs, and persistent hallucination even with better retrieval.</a:t>
            </a:r>
            <a:endParaRPr lang="en-US" sz="1600" dirty="0"/>
          </a:p>
          <a:p>
            <a:pPr marL="342900" indent="-342900">
              <a:spcAft>
                <a:spcPts val="1200"/>
              </a:spcAft>
              <a:buSzPct val="100000"/>
              <a:buChar char="•"/>
            </a:pPr>
            <a:r>
              <a:rPr lang="en-US" sz="1600" dirty="0">
                <a:solidFill>
                  <a:srgbClr val="1A1A1A"/>
                </a:solidFill>
                <a:latin typeface="Calibri" pitchFamily="34" charset="0"/>
                <a:ea typeface="Calibri" pitchFamily="34" charset="-122"/>
                <a:cs typeface="Calibri" pitchFamily="34" charset="-120"/>
              </a:rPr>
              <a:t>This report proposed a three-stage system, claim fragmentation, retrieval alignment, and matching classification, that gives a supported / unsupported / contradicted verdict for every claim instead of one score for the whole answer.</a:t>
            </a:r>
            <a:endParaRPr lang="en-US" sz="1600" dirty="0"/>
          </a:p>
          <a:p>
            <a:pPr marL="342900" indent="-342900">
              <a:spcAft>
                <a:spcPts val="1200"/>
              </a:spcAft>
              <a:buSzPct val="100000"/>
              <a:buChar char="•"/>
            </a:pPr>
            <a:r>
              <a:rPr lang="en-US" sz="1600" dirty="0">
                <a:solidFill>
                  <a:srgbClr val="1A1A1A"/>
                </a:solidFill>
                <a:latin typeface="Calibri" pitchFamily="34" charset="0"/>
                <a:ea typeface="Calibri" pitchFamily="34" charset="-122"/>
                <a:cs typeface="Calibri" pitchFamily="34" charset="-120"/>
              </a:rPr>
              <a:t>An evaluation plan was also designed, covering benchmarks, metrics, baselines, ablations, human evaluation and latency measurement.</a:t>
            </a:r>
            <a:endParaRPr lang="en-US" sz="1600" dirty="0"/>
          </a:p>
          <a:p>
            <a:pPr marL="342900" indent="-342900">
              <a:spcAft>
                <a:spcPts val="1200"/>
              </a:spcAft>
              <a:buSzPct val="100000"/>
              <a:buChar char="•"/>
            </a:pPr>
            <a:r>
              <a:rPr lang="en-US" sz="1600" dirty="0">
                <a:solidFill>
                  <a:srgbClr val="1A1A1A"/>
                </a:solidFill>
                <a:latin typeface="Calibri" pitchFamily="34" charset="0"/>
                <a:ea typeface="Calibri" pitchFamily="34" charset="-122"/>
                <a:cs typeface="Calibri" pitchFamily="34" charset="-120"/>
              </a:rPr>
              <a:t>The next steps are implementation and evaluation. The results of these steps will determine how well the claim-level verification design proposed here actually performs.</a:t>
            </a:r>
            <a:endParaRPr lang="en-US" sz="1600" dirty="0"/>
          </a:p>
        </p:txBody>
      </p:sp>
      <p:sp>
        <p:nvSpPr>
          <p:cNvPr id="4" name="Text 2"/>
          <p:cNvSpPr txBox="1"/>
          <p:nvPr/>
        </p:nvSpPr>
        <p:spPr>
          <a:xfrm>
            <a:off x="11338560" y="6400800"/>
            <a:ext cx="457200" cy="274320"/>
          </a:xfrm>
          <a:prstGeom prst="rect">
            <a:avLst/>
          </a:prstGeom>
          <a:noFill/>
          <a:ln/>
        </p:spPr>
        <p:txBody>
          <a:bodyPr wrap="square" lIns="0" tIns="0" rIns="0" bIns="0" rtlCol="0" anchor="ctr"/>
          <a:lstStyle/>
          <a:p>
            <a:pPr marL="0" indent="0" algn="r">
              <a:buNone/>
            </a:pPr>
            <a:r>
              <a:rPr lang="en-US" sz="1000" dirty="0">
                <a:solidFill>
                  <a:srgbClr val="555555"/>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457200" y="2971800"/>
            <a:ext cx="11247120" cy="914400"/>
          </a:xfrm>
          <a:prstGeom prst="rect">
            <a:avLst/>
          </a:prstGeom>
          <a:noFill/>
          <a:ln/>
        </p:spPr>
        <p:txBody>
          <a:bodyPr wrap="square" lIns="0" tIns="0" rIns="0" bIns="0" rtlCol="0" anchor="ctr"/>
          <a:lstStyle/>
          <a:p>
            <a:pPr marL="0" indent="0" algn="ctr">
              <a:buNone/>
            </a:pPr>
            <a:r>
              <a:rPr lang="en-US" sz="3600" b="1" dirty="0">
                <a:solidFill>
                  <a:srgbClr val="1A1A1A"/>
                </a:solidFill>
                <a:latin typeface="Calibri" pitchFamily="34" charset="0"/>
                <a:ea typeface="Calibri" pitchFamily="34" charset="-122"/>
                <a:cs typeface="Calibri" pitchFamily="34" charset="-120"/>
              </a:rPr>
              <a:t>Thank You</a:t>
            </a:r>
            <a:endParaRPr lang="en-US" sz="3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29</Slides>
  <Notes>29</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jwjjwjjwju@gmail.com</cp:lastModifiedBy>
  <cp:revision>2</cp:revision>
  <dcterms:created xsi:type="dcterms:W3CDTF">2026-08-27T10:50:41Z</dcterms:created>
  <dcterms:modified xsi:type="dcterms:W3CDTF">2026-08-27T12:03:57Z</dcterms:modified>
</cp:coreProperties>
</file>